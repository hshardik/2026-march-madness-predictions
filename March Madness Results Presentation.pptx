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59" r:id="rId4"/>
    <p:sldId id="258" r:id="rId5"/>
    <p:sldId id="260" r:id="rId6"/>
    <p:sldId id="261" r:id="rId7"/>
    <p:sldId id="262" r:id="rId8"/>
    <p:sldId id="269"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59"/>
    <p:restoredTop sz="79865"/>
  </p:normalViewPr>
  <p:slideViewPr>
    <p:cSldViewPr snapToGrid="0" snapToObjects="1">
      <p:cViewPr varScale="1">
        <p:scale>
          <a:sx n="209" d="100"/>
          <a:sy n="209" d="100"/>
        </p:scale>
        <p:origin x="1424" y="184"/>
      </p:cViewPr>
      <p:guideLst/>
    </p:cSldViewPr>
  </p:slideViewPr>
  <p:notesTextViewPr>
    <p:cViewPr>
      <p:scale>
        <a:sx n="135" d="100"/>
        <a:sy n="13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943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 are Cushing Street Analytics, and today we’re going to walk you through our analysis of the NCAA March Madness tournament.</a:t>
            </a:r>
          </a:p>
          <a:p>
            <a:r>
              <a:rPr lang="en-US" dirty="0"/>
              <a:t>We analyzed 18 years of tournament data — from 2008 through 2025 — to answer three questions: which seeds do well, what stats actually predict success, and who’s going to win it all this year.</a:t>
            </a:r>
          </a:p>
          <a:p>
            <a:r>
              <a:rPr lang="en-US" dirty="0"/>
              <a:t>Let’s dive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we’ll cover in the next 8 minutes. We structured our presentation around five sections.</a:t>
            </a:r>
          </a:p>
          <a:p>
            <a:r>
              <a:rPr lang="en-US" dirty="0"/>
              <a:t>First, we’ll look at raw seed performance — this is just reflecting on historical facts, no modeling involved.</a:t>
            </a:r>
          </a:p>
          <a:p>
            <a:r>
              <a:rPr lang="en-US" dirty="0"/>
              <a:t>Then we’ll identify which specific schools consistently beat or miss their seeding.</a:t>
            </a:r>
          </a:p>
          <a:p>
            <a:r>
              <a:rPr lang="en-US" dirty="0"/>
              <a:t>Third — and this was our most interesting finding — we’ll show what stats actually predict tournament success. Spoiler: it’s not what most people think.</a:t>
            </a:r>
          </a:p>
          <a:p>
            <a:r>
              <a:rPr lang="en-US" dirty="0"/>
              <a:t>Fourth, we’ll explain how we built and validated our prediction model. We’ll keep this accessible — no jargon.</a:t>
            </a:r>
          </a:p>
          <a:p>
            <a:r>
              <a:rPr lang="en-US" dirty="0"/>
              <a:t>And finally, we’ll make our 2026 predictions for the 16 teams still alive in the bracket.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is the single most powerful chart in our entire analysis. Every cell shows the probability that a given seed reaches a given round.</a:t>
            </a:r>
          </a:p>
          <a:p>
            <a:r>
              <a:rPr lang="en-US" dirty="0"/>
              <a:t>Read it left to right: a 1-seed has a 97% chance of surviving the first round, 82% of making the Sweet 16, and about a 1-in-5 shot at winning the whole thing.</a:t>
            </a:r>
          </a:p>
          <a:p>
            <a:r>
              <a:rPr lang="en-US" dirty="0"/>
              <a:t>Now look at the bottom half — seeds 13 through 16. It’s a wall of red zeros. A 16-seed has literally won just 2 games out of roughly 100 attempts in our dataset.</a:t>
            </a:r>
          </a:p>
          <a:p>
            <a:r>
              <a:rPr lang="en-US" dirty="0"/>
              <a:t>The interesting zone is seeds 7 through 11 — we call this the chaos zone. Notice that 11-seeds actually reach the Sweet 16 more often than 8, 9, or 10 seeds. That’s the Cinderella effect — those mid-major teams with nothing to lose.</a:t>
            </a:r>
          </a:p>
          <a:p>
            <a:r>
              <a:rPr lang="en-US" dirty="0"/>
              <a:t>The big takeaway: the tournament is structurally dominated by top seeds. One-seeds account for 76% of all championships since 2008.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simplifies the heatmap into one number per seed — average tournament wins.</a:t>
            </a:r>
          </a:p>
          <a:p>
            <a:r>
              <a:rPr lang="en-US" dirty="0"/>
              <a:t>Seeds 1 through 5 are in green — they have winning records. The red dashed line is the overall average of 0.93 wins per team.</a:t>
            </a:r>
          </a:p>
          <a:p>
            <a:r>
              <a:rPr lang="en-US" dirty="0"/>
              <a:t>Notice something interesting: the 7-seed actually outperforms the 6-seed. That’s because 6-seeds draw 11-seeds in the first round — the Cinderella seed — while 7-seeds draw 10-seeds, which is a more predictable matchup.</a:t>
            </a:r>
          </a:p>
          <a:p>
            <a:r>
              <a:rPr lang="en-US" dirty="0"/>
              <a:t>The cliff from seed 5 to seed 6 is the sharpest drop on the chart. That’s the dividing line between ’expected to advance’ and ’coin flip.’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answer: are there specific schools that consistently beat or miss their seed?</a:t>
            </a:r>
          </a:p>
          <a:p>
            <a:r>
              <a:rPr lang="en-US" dirty="0"/>
              <a:t>We used a metric called PASE — Performance Against Seed Expectation — which comes directly from the Barttorvik dataset. We also independently verified it by computing expected wins for each seed ourselves and doing the subtraction manually. Both methods produced the same rankings.</a:t>
            </a:r>
          </a:p>
          <a:p>
            <a:r>
              <a:rPr lang="en-US" dirty="0"/>
              <a:t>On the left — over-performers. UConn is the runaway leader at plus-13.3. They’ve won four national championships from seeds 1, 3, 4, and 7. That kind of range is historically unprecedented.</a:t>
            </a:r>
          </a:p>
          <a:p>
            <a:r>
              <a:rPr lang="en-US" dirty="0"/>
              <a:t>Michigan State at plus-10.1 — 17 tournament appearances and they almost always exceed expectations. Tom Izzo’s program just performs in March.</a:t>
            </a:r>
          </a:p>
          <a:p>
            <a:r>
              <a:rPr lang="en-US" dirty="0"/>
              <a:t>On the right — under-performers. Georgetown is the worst at minus-8.1. They average a 4.6 seed but only win 0.4 games per tournament. That’s a program that consistently chokes under pressure.</a:t>
            </a:r>
          </a:p>
          <a:p>
            <a:r>
              <a:rPr lang="en-US" dirty="0"/>
              <a:t>Virginia at minus-7.9 is notable because they DID win the 2019 title, but one championship doesn’t erase a decade of early exits as a top-4 seed.</a:t>
            </a:r>
          </a:p>
          <a:p>
            <a:r>
              <a:rPr lang="en-US" dirty="0"/>
              <a:t>Kansas at minus-3.3 might surprise people — but a typical 2-seed should produce more deep runs than Kansas has.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predictions for the 16 teams still alive in the tournament.</a:t>
            </a:r>
          </a:p>
          <a:p>
            <a:r>
              <a:rPr lang="en-US" dirty="0"/>
              <a:t>The left chart ranks all 16 by predicted wins. </a:t>
            </a:r>
            <a:br>
              <a:rPr lang="en-US" dirty="0"/>
            </a:br>
            <a:r>
              <a:rPr lang="en-US" dirty="0"/>
              <a:t>The right chart shows who the model thinks is playing ABOVE or BELOW their seed.</a:t>
            </a:r>
            <a:br>
              <a:rPr lang="en-US" dirty="0"/>
            </a:br>
            <a:r>
              <a:rPr lang="en-US" dirty="0"/>
              <a:t>We can see that  Illinois as a 3-seed has the highest wins-above-expectation ,The model sees them as a 1-seed in disguise.</a:t>
            </a:r>
          </a:p>
          <a:p>
            <a:r>
              <a:rPr lang="en-US" dirty="0"/>
              <a:t>At the bottom we see Michigan State actually projected BELOW their seed expectation. So the model doesn’t love their profile despite the pedigree.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Final Four. </a:t>
            </a:r>
            <a:br>
              <a:rPr lang="en-US" dirty="0"/>
            </a:br>
            <a:r>
              <a:rPr lang="en-US" dirty="0"/>
              <a:t>Michigan wins the tournament over Duke with Illinois and Arizona at number 3 and 4</a:t>
            </a:r>
            <a:br>
              <a:rPr lang="en-US" dirty="0"/>
            </a:br>
            <a:r>
              <a:rPr lang="en-US" dirty="0"/>
              <a:t>Michigan’s has highest predicted wins, strong talent composite, and they’re historically one of the biggest over-performers in our dataset.</a:t>
            </a:r>
            <a:br>
              <a:rPr lang="en-US" dirty="0"/>
            </a:br>
            <a:r>
              <a:rPr lang="en-US" dirty="0"/>
              <a:t>Illinois is the upset watch , as seed 3 disguised as seed 1.</a:t>
            </a:r>
            <a:br>
              <a:rPr lang="en-US" dirty="0"/>
            </a:br>
            <a:r>
              <a:rPr lang="en-US" dirty="0"/>
              <a:t>Other upset candidates: St. John’s as a 5-seed and Alabama as a 4-seed are both projected above their seed 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1F1F1F"/>
                </a:solidFill>
                <a:effectLst/>
                <a:latin typeface="Google Sans Text"/>
              </a:rPr>
              <a:t>Our model does a great job at analyzing team stats through the season, highlights the most important stats, gives a best guess based on the previous information</a:t>
            </a:r>
            <a:br>
              <a:rPr lang="en-US" b="0" i="0" dirty="0">
                <a:solidFill>
                  <a:srgbClr val="1F1F1F"/>
                </a:solidFill>
                <a:effectLst/>
                <a:latin typeface="Google Sans Text"/>
              </a:rPr>
            </a:br>
            <a:r>
              <a:rPr lang="en-US" b="0" i="0" dirty="0">
                <a:solidFill>
                  <a:srgbClr val="1F1F1F"/>
                </a:solidFill>
                <a:effectLst/>
                <a:latin typeface="Google Sans Text"/>
              </a:rPr>
              <a:t>It does not capture any injuries, suspensions, the actual pressure of the game.</a:t>
            </a:r>
            <a:br>
              <a:rPr lang="en-US" b="0" i="0" dirty="0">
                <a:solidFill>
                  <a:srgbClr val="1F1F1F"/>
                </a:solidFill>
                <a:effectLst/>
                <a:latin typeface="Google Sans Text"/>
              </a:rPr>
            </a:br>
            <a:br>
              <a:rPr lang="en-US" b="0" i="0" dirty="0">
                <a:solidFill>
                  <a:srgbClr val="1F1F1F"/>
                </a:solidFill>
                <a:effectLst/>
                <a:latin typeface="Google Sans Text"/>
              </a:rPr>
            </a:br>
            <a:r>
              <a:rPr lang="en-US" b="0" i="0" dirty="0">
                <a:solidFill>
                  <a:srgbClr val="1F1F1F"/>
                </a:solidFill>
                <a:effectLst/>
                <a:latin typeface="Google Sans Text"/>
              </a:rPr>
              <a:t>Let’s be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surrender my case, According to us Michigan cuts down the nets. If we're right, we're geniuses. If we're wrong its on the model. </a:t>
            </a:r>
            <a:br>
              <a:rPr lang="en-US" dirty="0"/>
            </a:br>
            <a:r>
              <a:rPr lang="en-US" dirty="0"/>
              <a:t>Thank you for being a great audience we are open to questions now.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782F"/>
          </a:solidFill>
          <a:ln/>
        </p:spPr>
        <p:txBody>
          <a:bodyPr/>
          <a:lstStyle/>
          <a:p>
            <a:endParaRPr lang="en-US"/>
          </a:p>
        </p:txBody>
      </p:sp>
      <p:sp>
        <p:nvSpPr>
          <p:cNvPr id="3" name="Shape 1"/>
          <p:cNvSpPr/>
          <p:nvPr/>
        </p:nvSpPr>
        <p:spPr>
          <a:xfrm>
            <a:off x="0" y="5070348"/>
            <a:ext cx="9144000" cy="73152"/>
          </a:xfrm>
          <a:prstGeom prst="rect">
            <a:avLst/>
          </a:prstGeom>
          <a:solidFill>
            <a:srgbClr val="D4782F"/>
          </a:solidFill>
          <a:ln/>
        </p:spPr>
        <p:txBody>
          <a:bodyPr/>
          <a:lstStyle/>
          <a:p>
            <a:endParaRPr lang="en-US"/>
          </a:p>
        </p:txBody>
      </p:sp>
      <p:sp>
        <p:nvSpPr>
          <p:cNvPr id="5" name="Text 3"/>
          <p:cNvSpPr/>
          <p:nvPr/>
        </p:nvSpPr>
        <p:spPr>
          <a:xfrm>
            <a:off x="1096684" y="3072618"/>
            <a:ext cx="7680960" cy="731520"/>
          </a:xfrm>
          <a:prstGeom prst="rect">
            <a:avLst/>
          </a:prstGeom>
          <a:noFill/>
          <a:ln/>
        </p:spPr>
        <p:txBody>
          <a:bodyPr wrap="square" rtlCol="0" anchor="ctr"/>
          <a:lstStyle/>
          <a:p>
            <a:pPr marL="0" indent="0" algn="ctr">
              <a:buNone/>
            </a:pPr>
            <a:r>
              <a:rPr lang="en-US" sz="3800" b="1" kern="0" spc="300" dirty="0">
                <a:solidFill>
                  <a:srgbClr val="D4782F"/>
                </a:solidFill>
                <a:latin typeface="Georgia" pitchFamily="34" charset="0"/>
                <a:ea typeface="Georgia" pitchFamily="34" charset="-122"/>
                <a:cs typeface="Georgia" pitchFamily="34" charset="-120"/>
              </a:rPr>
              <a:t>DATATHON 2026</a:t>
            </a:r>
            <a:endParaRPr lang="en-US" sz="3800" dirty="0"/>
          </a:p>
        </p:txBody>
      </p:sp>
      <p:sp>
        <p:nvSpPr>
          <p:cNvPr id="6" name="Shape 4"/>
          <p:cNvSpPr/>
          <p:nvPr/>
        </p:nvSpPr>
        <p:spPr>
          <a:xfrm>
            <a:off x="3282628" y="3703683"/>
            <a:ext cx="2743200" cy="18288"/>
          </a:xfrm>
          <a:prstGeom prst="rect">
            <a:avLst/>
          </a:prstGeom>
          <a:solidFill>
            <a:srgbClr val="3A5070"/>
          </a:solidFill>
          <a:ln/>
        </p:spPr>
        <p:txBody>
          <a:bodyPr/>
          <a:lstStyle/>
          <a:p>
            <a:endParaRPr lang="en-US"/>
          </a:p>
        </p:txBody>
      </p:sp>
      <p:sp>
        <p:nvSpPr>
          <p:cNvPr id="7" name="Text 5"/>
          <p:cNvSpPr/>
          <p:nvPr/>
        </p:nvSpPr>
        <p:spPr>
          <a:xfrm>
            <a:off x="2110957" y="3712827"/>
            <a:ext cx="4922086" cy="457200"/>
          </a:xfrm>
          <a:prstGeom prst="rect">
            <a:avLst/>
          </a:prstGeom>
          <a:noFill/>
          <a:ln/>
        </p:spPr>
        <p:txBody>
          <a:bodyPr wrap="square" rtlCol="0" anchor="ctr"/>
          <a:lstStyle/>
          <a:p>
            <a:pPr marL="0" indent="0" algn="ctr">
              <a:buNone/>
            </a:pPr>
            <a:r>
              <a:rPr lang="en-US" sz="1600" dirty="0">
                <a:solidFill>
                  <a:schemeClr val="bg1"/>
                </a:solidFill>
                <a:latin typeface="Calibri" pitchFamily="34" charset="0"/>
                <a:ea typeface="Calibri" pitchFamily="34" charset="-122"/>
                <a:cs typeface="Calibri" pitchFamily="34" charset="-120"/>
              </a:rPr>
              <a:t>Team: Cushing Street Analytics</a:t>
            </a:r>
            <a:endParaRPr lang="en-US" sz="1600" dirty="0">
              <a:solidFill>
                <a:schemeClr val="bg1"/>
              </a:solidFill>
            </a:endParaRPr>
          </a:p>
        </p:txBody>
      </p:sp>
      <p:pic>
        <p:nvPicPr>
          <p:cNvPr id="1026" name="Picture 2" descr="NCAA Division I men's basketball tournament - Wikipedia">
            <a:extLst>
              <a:ext uri="{FF2B5EF4-FFF2-40B4-BE49-F238E27FC236}">
                <a16:creationId xmlns:a16="http://schemas.microsoft.com/office/drawing/2014/main" id="{BD5C98C2-7939-4E9E-BBE8-C5F772A5B0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382" y="462641"/>
            <a:ext cx="5551584" cy="23729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600" b="1" dirty="0">
                <a:solidFill>
                  <a:srgbClr val="0F1B33"/>
                </a:solidFill>
                <a:latin typeface="Georgia" pitchFamily="34" charset="0"/>
                <a:ea typeface="Georgia" pitchFamily="34" charset="-122"/>
                <a:cs typeface="Georgia" pitchFamily="34" charset="-120"/>
              </a:rPr>
              <a:t>Agenda</a:t>
            </a:r>
            <a:endParaRPr lang="en-US" sz="36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What we'll cover in the next 8 minutes</a:t>
            </a:r>
            <a:endParaRPr lang="en-US" sz="14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13" name="Shape 11"/>
          <p:cNvSpPr/>
          <p:nvPr/>
        </p:nvSpPr>
        <p:spPr>
          <a:xfrm>
            <a:off x="457200" y="1371600"/>
            <a:ext cx="8229600" cy="4572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457200" y="1371600"/>
            <a:ext cx="54864" cy="457200"/>
          </a:xfrm>
          <a:prstGeom prst="rect">
            <a:avLst/>
          </a:prstGeom>
          <a:solidFill>
            <a:srgbClr val="148F77"/>
          </a:solidFill>
          <a:ln/>
        </p:spPr>
        <p:txBody>
          <a:bodyPr/>
          <a:lstStyle/>
          <a:p>
            <a:endParaRPr lang="en-US"/>
          </a:p>
        </p:txBody>
      </p:sp>
      <p:sp>
        <p:nvSpPr>
          <p:cNvPr id="15" name="Text 13"/>
          <p:cNvSpPr/>
          <p:nvPr/>
        </p:nvSpPr>
        <p:spPr>
          <a:xfrm>
            <a:off x="640080" y="1417320"/>
            <a:ext cx="457200" cy="365760"/>
          </a:xfrm>
          <a:prstGeom prst="rect">
            <a:avLst/>
          </a:prstGeom>
          <a:noFill/>
          <a:ln/>
        </p:spPr>
        <p:txBody>
          <a:bodyPr wrap="square" lIns="0" tIns="0" rIns="0" bIns="0" rtlCol="0" anchor="ctr"/>
          <a:lstStyle/>
          <a:p>
            <a:pPr marL="0" indent="0">
              <a:buNone/>
            </a:pPr>
            <a:r>
              <a:rPr lang="en-US" sz="1800" b="1" dirty="0">
                <a:solidFill>
                  <a:srgbClr val="148F77"/>
                </a:solidFill>
                <a:latin typeface="Georgia" pitchFamily="34" charset="0"/>
                <a:ea typeface="Georgia" pitchFamily="34" charset="-122"/>
                <a:cs typeface="Georgia" pitchFamily="34" charset="-120"/>
              </a:rPr>
              <a:t>01</a:t>
            </a:r>
            <a:endParaRPr lang="en-US" sz="1800" dirty="0"/>
          </a:p>
        </p:txBody>
      </p:sp>
      <p:sp>
        <p:nvSpPr>
          <p:cNvPr id="16" name="Text 14"/>
          <p:cNvSpPr/>
          <p:nvPr/>
        </p:nvSpPr>
        <p:spPr>
          <a:xfrm>
            <a:off x="1143000" y="1417320"/>
            <a:ext cx="2286000" cy="365760"/>
          </a:xfrm>
          <a:prstGeom prst="rect">
            <a:avLst/>
          </a:prstGeom>
          <a:noFill/>
          <a:ln/>
        </p:spPr>
        <p:txBody>
          <a:bodyPr wrap="square" lIns="0" tIns="0" rIns="0" bIns="0" rtlCol="0" anchor="ctr"/>
          <a:lstStyle/>
          <a:p>
            <a:pPr marL="0" indent="0">
              <a:buNone/>
            </a:pPr>
            <a:r>
              <a:rPr lang="en-US" sz="1400" b="1" dirty="0">
                <a:solidFill>
                  <a:srgbClr val="0F1B33"/>
                </a:solidFill>
                <a:latin typeface="Calibri" pitchFamily="34" charset="0"/>
                <a:ea typeface="Calibri" pitchFamily="34" charset="-122"/>
                <a:cs typeface="Calibri" pitchFamily="34" charset="-120"/>
              </a:rPr>
              <a:t>Seed performance</a:t>
            </a:r>
            <a:endParaRPr lang="en-US" sz="1400" dirty="0"/>
          </a:p>
        </p:txBody>
      </p:sp>
      <p:sp>
        <p:nvSpPr>
          <p:cNvPr id="17" name="Text 15"/>
          <p:cNvSpPr/>
          <p:nvPr/>
        </p:nvSpPr>
        <p:spPr>
          <a:xfrm>
            <a:off x="3474720" y="1417320"/>
            <a:ext cx="41148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Which seeds win? How far does each seed go historically?</a:t>
            </a:r>
            <a:endParaRPr lang="en-US" sz="1200" dirty="0"/>
          </a:p>
        </p:txBody>
      </p:sp>
      <p:sp>
        <p:nvSpPr>
          <p:cNvPr id="19" name="Shape 17"/>
          <p:cNvSpPr/>
          <p:nvPr/>
        </p:nvSpPr>
        <p:spPr>
          <a:xfrm>
            <a:off x="457200" y="1920240"/>
            <a:ext cx="8229600" cy="4572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457200" y="1920240"/>
            <a:ext cx="54864" cy="457200"/>
          </a:xfrm>
          <a:prstGeom prst="rect">
            <a:avLst/>
          </a:prstGeom>
          <a:solidFill>
            <a:srgbClr val="1D8348"/>
          </a:solidFill>
          <a:ln/>
        </p:spPr>
        <p:txBody>
          <a:bodyPr/>
          <a:lstStyle/>
          <a:p>
            <a:endParaRPr lang="en-US"/>
          </a:p>
        </p:txBody>
      </p:sp>
      <p:sp>
        <p:nvSpPr>
          <p:cNvPr id="21" name="Text 19"/>
          <p:cNvSpPr/>
          <p:nvPr/>
        </p:nvSpPr>
        <p:spPr>
          <a:xfrm>
            <a:off x="640080" y="1965960"/>
            <a:ext cx="457200" cy="365760"/>
          </a:xfrm>
          <a:prstGeom prst="rect">
            <a:avLst/>
          </a:prstGeom>
          <a:noFill/>
          <a:ln/>
        </p:spPr>
        <p:txBody>
          <a:bodyPr wrap="square" lIns="0" tIns="0" rIns="0" bIns="0" rtlCol="0" anchor="ctr"/>
          <a:lstStyle/>
          <a:p>
            <a:pPr marL="0" indent="0">
              <a:buNone/>
            </a:pPr>
            <a:r>
              <a:rPr lang="en-US" sz="1800" b="1" dirty="0">
                <a:solidFill>
                  <a:srgbClr val="1D8348"/>
                </a:solidFill>
                <a:latin typeface="Georgia" pitchFamily="34" charset="0"/>
                <a:ea typeface="Georgia" pitchFamily="34" charset="-122"/>
                <a:cs typeface="Georgia" pitchFamily="34" charset="-120"/>
              </a:rPr>
              <a:t>02</a:t>
            </a:r>
            <a:endParaRPr lang="en-US" sz="1800" dirty="0"/>
          </a:p>
        </p:txBody>
      </p:sp>
      <p:sp>
        <p:nvSpPr>
          <p:cNvPr id="22" name="Text 20"/>
          <p:cNvSpPr/>
          <p:nvPr/>
        </p:nvSpPr>
        <p:spPr>
          <a:xfrm>
            <a:off x="1143000" y="1965960"/>
            <a:ext cx="2286000" cy="365760"/>
          </a:xfrm>
          <a:prstGeom prst="rect">
            <a:avLst/>
          </a:prstGeom>
          <a:noFill/>
          <a:ln/>
        </p:spPr>
        <p:txBody>
          <a:bodyPr wrap="square" lIns="0" tIns="0" rIns="0" bIns="0" rtlCol="0" anchor="ctr"/>
          <a:lstStyle/>
          <a:p>
            <a:pPr marL="0" indent="0">
              <a:buNone/>
            </a:pPr>
            <a:r>
              <a:rPr lang="en-US" sz="1400" b="1" dirty="0">
                <a:solidFill>
                  <a:srgbClr val="0F1B33"/>
                </a:solidFill>
                <a:latin typeface="Calibri" pitchFamily="34" charset="0"/>
                <a:ea typeface="Calibri" pitchFamily="34" charset="-122"/>
                <a:cs typeface="Calibri" pitchFamily="34" charset="-120"/>
              </a:rPr>
              <a:t>Over &amp; under-performers</a:t>
            </a:r>
            <a:endParaRPr lang="en-US" sz="1400" dirty="0"/>
          </a:p>
        </p:txBody>
      </p:sp>
      <p:sp>
        <p:nvSpPr>
          <p:cNvPr id="23" name="Text 21"/>
          <p:cNvSpPr/>
          <p:nvPr/>
        </p:nvSpPr>
        <p:spPr>
          <a:xfrm>
            <a:off x="3474720" y="1965960"/>
            <a:ext cx="41148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Which schools consistently beat or miss their seeding?</a:t>
            </a:r>
            <a:endParaRPr lang="en-US" sz="1200" dirty="0"/>
          </a:p>
        </p:txBody>
      </p:sp>
      <p:sp>
        <p:nvSpPr>
          <p:cNvPr id="25" name="Shape 23"/>
          <p:cNvSpPr/>
          <p:nvPr/>
        </p:nvSpPr>
        <p:spPr>
          <a:xfrm>
            <a:off x="457200" y="2468880"/>
            <a:ext cx="8229600" cy="4572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6" name="Shape 24"/>
          <p:cNvSpPr/>
          <p:nvPr/>
        </p:nvSpPr>
        <p:spPr>
          <a:xfrm>
            <a:off x="457200" y="2468880"/>
            <a:ext cx="54864" cy="457200"/>
          </a:xfrm>
          <a:prstGeom prst="rect">
            <a:avLst/>
          </a:prstGeom>
          <a:solidFill>
            <a:srgbClr val="D4782F"/>
          </a:solidFill>
          <a:ln/>
        </p:spPr>
        <p:txBody>
          <a:bodyPr/>
          <a:lstStyle/>
          <a:p>
            <a:endParaRPr lang="en-US"/>
          </a:p>
        </p:txBody>
      </p:sp>
      <p:sp>
        <p:nvSpPr>
          <p:cNvPr id="27" name="Text 25"/>
          <p:cNvSpPr/>
          <p:nvPr/>
        </p:nvSpPr>
        <p:spPr>
          <a:xfrm>
            <a:off x="640080" y="2514600"/>
            <a:ext cx="457200" cy="365760"/>
          </a:xfrm>
          <a:prstGeom prst="rect">
            <a:avLst/>
          </a:prstGeom>
          <a:noFill/>
          <a:ln/>
        </p:spPr>
        <p:txBody>
          <a:bodyPr wrap="square" lIns="0" tIns="0" rIns="0" bIns="0" rtlCol="0" anchor="ctr"/>
          <a:lstStyle/>
          <a:p>
            <a:pPr marL="0" indent="0">
              <a:buNone/>
            </a:pPr>
            <a:r>
              <a:rPr lang="en-US" sz="1800" b="1" dirty="0">
                <a:solidFill>
                  <a:srgbClr val="D4782F"/>
                </a:solidFill>
                <a:latin typeface="Georgia" pitchFamily="34" charset="0"/>
                <a:ea typeface="Georgia" pitchFamily="34" charset="-122"/>
                <a:cs typeface="Georgia" pitchFamily="34" charset="-120"/>
              </a:rPr>
              <a:t>03</a:t>
            </a:r>
            <a:endParaRPr lang="en-US" sz="1800" dirty="0"/>
          </a:p>
        </p:txBody>
      </p:sp>
      <p:sp>
        <p:nvSpPr>
          <p:cNvPr id="28" name="Text 26"/>
          <p:cNvSpPr/>
          <p:nvPr/>
        </p:nvSpPr>
        <p:spPr>
          <a:xfrm>
            <a:off x="1143000" y="2514600"/>
            <a:ext cx="2286000" cy="365760"/>
          </a:xfrm>
          <a:prstGeom prst="rect">
            <a:avLst/>
          </a:prstGeom>
          <a:noFill/>
          <a:ln/>
        </p:spPr>
        <p:txBody>
          <a:bodyPr wrap="square" lIns="0" tIns="0" rIns="0" bIns="0" rtlCol="0" anchor="ctr"/>
          <a:lstStyle/>
          <a:p>
            <a:pPr marL="0" indent="0">
              <a:buNone/>
            </a:pPr>
            <a:r>
              <a:rPr lang="en-US" sz="1400" b="1" dirty="0">
                <a:solidFill>
                  <a:srgbClr val="0F1B33"/>
                </a:solidFill>
                <a:latin typeface="Calibri" pitchFamily="34" charset="0"/>
                <a:ea typeface="Calibri" pitchFamily="34" charset="-122"/>
                <a:cs typeface="Calibri" pitchFamily="34" charset="-120"/>
              </a:rPr>
              <a:t>What predicts success?</a:t>
            </a:r>
            <a:endParaRPr lang="en-US" sz="1400" dirty="0"/>
          </a:p>
        </p:txBody>
      </p:sp>
      <p:sp>
        <p:nvSpPr>
          <p:cNvPr id="29" name="Text 27"/>
          <p:cNvSpPr/>
          <p:nvPr/>
        </p:nvSpPr>
        <p:spPr>
          <a:xfrm>
            <a:off x="3474720" y="2514600"/>
            <a:ext cx="41148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It's not shooting stats — it's the résumé.</a:t>
            </a:r>
            <a:endParaRPr lang="en-US" sz="1200" dirty="0"/>
          </a:p>
        </p:txBody>
      </p:sp>
      <p:sp>
        <p:nvSpPr>
          <p:cNvPr id="31" name="Shape 29"/>
          <p:cNvSpPr/>
          <p:nvPr/>
        </p:nvSpPr>
        <p:spPr>
          <a:xfrm>
            <a:off x="457200" y="3017520"/>
            <a:ext cx="8229600" cy="4572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32" name="Shape 30"/>
          <p:cNvSpPr/>
          <p:nvPr/>
        </p:nvSpPr>
        <p:spPr>
          <a:xfrm>
            <a:off x="457200" y="3017520"/>
            <a:ext cx="54864" cy="457200"/>
          </a:xfrm>
          <a:prstGeom prst="rect">
            <a:avLst/>
          </a:prstGeom>
          <a:solidFill>
            <a:srgbClr val="C0392B"/>
          </a:solidFill>
          <a:ln/>
        </p:spPr>
        <p:txBody>
          <a:bodyPr/>
          <a:lstStyle/>
          <a:p>
            <a:endParaRPr lang="en-US"/>
          </a:p>
        </p:txBody>
      </p:sp>
      <p:sp>
        <p:nvSpPr>
          <p:cNvPr id="33" name="Text 31"/>
          <p:cNvSpPr/>
          <p:nvPr/>
        </p:nvSpPr>
        <p:spPr>
          <a:xfrm>
            <a:off x="640080" y="3063240"/>
            <a:ext cx="457200" cy="365760"/>
          </a:xfrm>
          <a:prstGeom prst="rect">
            <a:avLst/>
          </a:prstGeom>
          <a:noFill/>
          <a:ln/>
        </p:spPr>
        <p:txBody>
          <a:bodyPr wrap="square" lIns="0" tIns="0" rIns="0" bIns="0" rtlCol="0" anchor="ctr"/>
          <a:lstStyle/>
          <a:p>
            <a:pPr marL="0" indent="0">
              <a:buNone/>
            </a:pPr>
            <a:r>
              <a:rPr lang="en-US" sz="1800" b="1" dirty="0">
                <a:solidFill>
                  <a:srgbClr val="C0392B"/>
                </a:solidFill>
                <a:latin typeface="Georgia" pitchFamily="34" charset="0"/>
                <a:ea typeface="Georgia" pitchFamily="34" charset="-122"/>
                <a:cs typeface="Georgia" pitchFamily="34" charset="-120"/>
              </a:rPr>
              <a:t>04</a:t>
            </a:r>
            <a:endParaRPr lang="en-US" sz="1800" dirty="0"/>
          </a:p>
        </p:txBody>
      </p:sp>
      <p:sp>
        <p:nvSpPr>
          <p:cNvPr id="34" name="Text 32"/>
          <p:cNvSpPr/>
          <p:nvPr/>
        </p:nvSpPr>
        <p:spPr>
          <a:xfrm>
            <a:off x="1143000" y="3063240"/>
            <a:ext cx="2286000" cy="365760"/>
          </a:xfrm>
          <a:prstGeom prst="rect">
            <a:avLst/>
          </a:prstGeom>
          <a:noFill/>
          <a:ln/>
        </p:spPr>
        <p:txBody>
          <a:bodyPr wrap="square" lIns="0" tIns="0" rIns="0" bIns="0" rtlCol="0" anchor="ctr"/>
          <a:lstStyle/>
          <a:p>
            <a:pPr marL="0" indent="0">
              <a:buNone/>
            </a:pPr>
            <a:r>
              <a:rPr lang="en-US" sz="1400" b="1" dirty="0">
                <a:solidFill>
                  <a:srgbClr val="0F1B33"/>
                </a:solidFill>
                <a:latin typeface="Calibri" pitchFamily="34" charset="0"/>
                <a:ea typeface="Calibri" pitchFamily="34" charset="-122"/>
                <a:cs typeface="Calibri" pitchFamily="34" charset="-120"/>
              </a:rPr>
              <a:t>Model &amp; validation</a:t>
            </a:r>
            <a:endParaRPr lang="en-US" sz="1400" dirty="0"/>
          </a:p>
        </p:txBody>
      </p:sp>
      <p:sp>
        <p:nvSpPr>
          <p:cNvPr id="35" name="Text 33"/>
          <p:cNvSpPr/>
          <p:nvPr/>
        </p:nvSpPr>
        <p:spPr>
          <a:xfrm>
            <a:off x="3474720" y="3063240"/>
            <a:ext cx="41148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How we built, tested, and scored our prediction model.</a:t>
            </a:r>
            <a:endParaRPr lang="en-US" sz="1200" dirty="0"/>
          </a:p>
        </p:txBody>
      </p:sp>
      <p:sp>
        <p:nvSpPr>
          <p:cNvPr id="37" name="Shape 35"/>
          <p:cNvSpPr/>
          <p:nvPr/>
        </p:nvSpPr>
        <p:spPr>
          <a:xfrm>
            <a:off x="457200" y="3566160"/>
            <a:ext cx="8229600" cy="4572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38" name="Shape 36"/>
          <p:cNvSpPr/>
          <p:nvPr/>
        </p:nvSpPr>
        <p:spPr>
          <a:xfrm>
            <a:off x="457200" y="3566160"/>
            <a:ext cx="54864" cy="457200"/>
          </a:xfrm>
          <a:prstGeom prst="rect">
            <a:avLst/>
          </a:prstGeom>
          <a:solidFill>
            <a:srgbClr val="0F1B33"/>
          </a:solidFill>
          <a:ln/>
        </p:spPr>
        <p:txBody>
          <a:bodyPr/>
          <a:lstStyle/>
          <a:p>
            <a:endParaRPr lang="en-US"/>
          </a:p>
        </p:txBody>
      </p:sp>
      <p:sp>
        <p:nvSpPr>
          <p:cNvPr id="39" name="Text 37"/>
          <p:cNvSpPr/>
          <p:nvPr/>
        </p:nvSpPr>
        <p:spPr>
          <a:xfrm>
            <a:off x="640080" y="3611880"/>
            <a:ext cx="457200" cy="365760"/>
          </a:xfrm>
          <a:prstGeom prst="rect">
            <a:avLst/>
          </a:prstGeom>
          <a:noFill/>
          <a:ln/>
        </p:spPr>
        <p:txBody>
          <a:bodyPr wrap="square" lIns="0" tIns="0" rIns="0" bIns="0" rtlCol="0" anchor="ctr"/>
          <a:lstStyle/>
          <a:p>
            <a:pPr marL="0" indent="0">
              <a:buNone/>
            </a:pPr>
            <a:r>
              <a:rPr lang="en-US" sz="1800" b="1" dirty="0">
                <a:solidFill>
                  <a:srgbClr val="0F1B33"/>
                </a:solidFill>
                <a:latin typeface="Georgia" pitchFamily="34" charset="0"/>
                <a:ea typeface="Georgia" pitchFamily="34" charset="-122"/>
                <a:cs typeface="Georgia" pitchFamily="34" charset="-120"/>
              </a:rPr>
              <a:t>05</a:t>
            </a:r>
            <a:endParaRPr lang="en-US" sz="1800" dirty="0"/>
          </a:p>
        </p:txBody>
      </p:sp>
      <p:sp>
        <p:nvSpPr>
          <p:cNvPr id="40" name="Text 38"/>
          <p:cNvSpPr/>
          <p:nvPr/>
        </p:nvSpPr>
        <p:spPr>
          <a:xfrm>
            <a:off x="1143000" y="3611880"/>
            <a:ext cx="2286000" cy="365760"/>
          </a:xfrm>
          <a:prstGeom prst="rect">
            <a:avLst/>
          </a:prstGeom>
          <a:noFill/>
          <a:ln/>
        </p:spPr>
        <p:txBody>
          <a:bodyPr wrap="square" lIns="0" tIns="0" rIns="0" bIns="0" rtlCol="0" anchor="ctr"/>
          <a:lstStyle/>
          <a:p>
            <a:pPr marL="0" indent="0">
              <a:buNone/>
            </a:pPr>
            <a:r>
              <a:rPr lang="en-US" sz="1400" b="1" dirty="0">
                <a:solidFill>
                  <a:srgbClr val="0F1B33"/>
                </a:solidFill>
                <a:latin typeface="Calibri" pitchFamily="34" charset="0"/>
                <a:ea typeface="Calibri" pitchFamily="34" charset="-122"/>
                <a:cs typeface="Calibri" pitchFamily="34" charset="-120"/>
              </a:rPr>
              <a:t>2026 predictions</a:t>
            </a:r>
            <a:endParaRPr lang="en-US" sz="1400" dirty="0"/>
          </a:p>
        </p:txBody>
      </p:sp>
      <p:sp>
        <p:nvSpPr>
          <p:cNvPr id="41" name="Text 39"/>
          <p:cNvSpPr/>
          <p:nvPr/>
        </p:nvSpPr>
        <p:spPr>
          <a:xfrm>
            <a:off x="3474720" y="3611880"/>
            <a:ext cx="411480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Final Four picks from the 16 live teams. Plus: a reality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137160"/>
            <a:ext cx="8229600" cy="457200"/>
          </a:xfrm>
          <a:prstGeom prst="rect">
            <a:avLst/>
          </a:prstGeom>
          <a:noFill/>
          <a:ln/>
        </p:spPr>
        <p:txBody>
          <a:bodyPr wrap="square" lIns="0" tIns="0" rIns="0" bIns="0" rtlCol="0" anchor="ctr"/>
          <a:lstStyle/>
          <a:p>
            <a:pPr marL="0" indent="0">
              <a:buNone/>
            </a:pPr>
            <a:r>
              <a:rPr lang="en-US" sz="3000" b="1" dirty="0">
                <a:solidFill>
                  <a:srgbClr val="0F1B33"/>
                </a:solidFill>
                <a:latin typeface="Georgia" pitchFamily="34" charset="0"/>
                <a:ea typeface="Georgia" pitchFamily="34" charset="-122"/>
                <a:cs typeface="Georgia" pitchFamily="34" charset="-120"/>
              </a:rPr>
              <a:t>How far does each seed go?</a:t>
            </a:r>
            <a:endParaRPr lang="en-US" sz="3000" dirty="0"/>
          </a:p>
        </p:txBody>
      </p:sp>
      <p:sp>
        <p:nvSpPr>
          <p:cNvPr id="3" name="Text 1"/>
          <p:cNvSpPr/>
          <p:nvPr/>
        </p:nvSpPr>
        <p:spPr>
          <a:xfrm>
            <a:off x="548640" y="548640"/>
            <a:ext cx="8229600" cy="2743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Advancement probability by seed and tournament round</a:t>
            </a:r>
            <a:endParaRPr lang="en-US" sz="13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274320" y="868680"/>
            <a:ext cx="6387737" cy="37947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0" name="TextBox 9">
            <a:extLst>
              <a:ext uri="{FF2B5EF4-FFF2-40B4-BE49-F238E27FC236}">
                <a16:creationId xmlns:a16="http://schemas.microsoft.com/office/drawing/2014/main" id="{50D48D68-77CD-A0B7-11A7-B17B614EDE68}"/>
              </a:ext>
            </a:extLst>
          </p:cNvPr>
          <p:cNvSpPr txBox="1"/>
          <p:nvPr/>
        </p:nvSpPr>
        <p:spPr>
          <a:xfrm>
            <a:off x="6844936" y="2001510"/>
            <a:ext cx="1933303" cy="692497"/>
          </a:xfrm>
          <a:prstGeom prst="rect">
            <a:avLst/>
          </a:prstGeom>
          <a:noFill/>
        </p:spPr>
        <p:txBody>
          <a:bodyPr wrap="square">
            <a:spAutoFit/>
          </a:bodyPr>
          <a:lstStyle/>
          <a:p>
            <a:r>
              <a:rPr lang="en-US" sz="1300" dirty="0">
                <a:solidFill>
                  <a:schemeClr val="tx2"/>
                </a:solidFill>
                <a:latin typeface="Calibri" pitchFamily="34" charset="0"/>
                <a:cs typeface="Calibri" pitchFamily="34" charset="-120"/>
              </a:rPr>
              <a:t>Seed Advancement Rates by Tournament Round (2008–2025)</a:t>
            </a:r>
          </a:p>
        </p:txBody>
      </p:sp>
      <p:pic>
        <p:nvPicPr>
          <p:cNvPr id="5" name="Image 0" descr="/home/claude/heatmap_v2.png">
            <a:extLst>
              <a:ext uri="{FF2B5EF4-FFF2-40B4-BE49-F238E27FC236}">
                <a16:creationId xmlns:a16="http://schemas.microsoft.com/office/drawing/2014/main" id="{2A80BC56-D24C-DB47-443C-0D21B96AE356}"/>
              </a:ext>
            </a:extLst>
          </p:cNvPr>
          <p:cNvPicPr>
            <a:picLocks noChangeAspect="1"/>
          </p:cNvPicPr>
          <p:nvPr/>
        </p:nvPicPr>
        <p:blipFill rotWithShape="1">
          <a:blip r:embed="rId3"/>
          <a:srcRect t="2532"/>
          <a:stretch/>
        </p:blipFill>
        <p:spPr>
          <a:xfrm>
            <a:off x="296036" y="1005840"/>
            <a:ext cx="6366022" cy="3611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200" b="1" dirty="0">
                <a:solidFill>
                  <a:srgbClr val="0F1B33"/>
                </a:solidFill>
                <a:latin typeface="Georgia" pitchFamily="34" charset="0"/>
                <a:ea typeface="Georgia" pitchFamily="34" charset="-122"/>
                <a:cs typeface="Georgia" pitchFamily="34" charset="-120"/>
              </a:rPr>
              <a:t>Which seeds do well?</a:t>
            </a:r>
            <a:endParaRPr lang="en-US" sz="32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Average tournament wins by seed (2008–2025)</a:t>
            </a:r>
            <a:endParaRPr lang="en-US" sz="14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365760" y="1234440"/>
            <a:ext cx="8412480" cy="33375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10" name="Image 0" descr="/home/claude/avgwins_v2.png">
            <a:extLst>
              <a:ext uri="{FF2B5EF4-FFF2-40B4-BE49-F238E27FC236}">
                <a16:creationId xmlns:a16="http://schemas.microsoft.com/office/drawing/2014/main" id="{F9BFD0F4-A408-9462-21D2-E9A22CCA911E}"/>
              </a:ext>
            </a:extLst>
          </p:cNvPr>
          <p:cNvPicPr>
            <a:picLocks noChangeAspect="1"/>
          </p:cNvPicPr>
          <p:nvPr/>
        </p:nvPicPr>
        <p:blipFill>
          <a:blip r:embed="rId3"/>
          <a:stretch>
            <a:fillRect/>
          </a:stretch>
        </p:blipFill>
        <p:spPr>
          <a:xfrm>
            <a:off x="470262" y="1325880"/>
            <a:ext cx="8046720" cy="3108960"/>
          </a:xfrm>
          <a:prstGeom prst="rect">
            <a:avLst/>
          </a:prstGeom>
        </p:spPr>
      </p:pic>
      <p:sp>
        <p:nvSpPr>
          <p:cNvPr id="9" name="Text 6"/>
          <p:cNvSpPr/>
          <p:nvPr/>
        </p:nvSpPr>
        <p:spPr>
          <a:xfrm>
            <a:off x="470262" y="4370832"/>
            <a:ext cx="7315200" cy="18288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Seeds 1–5 have winning records. Seed 6 is breakeven. Seeds 7+ are underdogs.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000" b="1" dirty="0">
                <a:solidFill>
                  <a:srgbClr val="0F1B33"/>
                </a:solidFill>
                <a:latin typeface="Georgia" pitchFamily="34" charset="0"/>
                <a:ea typeface="Georgia" pitchFamily="34" charset="-122"/>
                <a:cs typeface="Georgia" pitchFamily="34" charset="-120"/>
              </a:rPr>
              <a:t>Who beats their seed? Who chokes?</a:t>
            </a:r>
            <a:endParaRPr lang="en-US" sz="30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Measured by PASE (Performance Against Seed Expectation) — verified by our own manual calculation</a:t>
            </a:r>
            <a:endParaRPr lang="en-US" sz="12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365760" y="1280160"/>
            <a:ext cx="4023360" cy="32461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365760" y="1280160"/>
            <a:ext cx="54864" cy="3246120"/>
          </a:xfrm>
          <a:prstGeom prst="rect">
            <a:avLst/>
          </a:prstGeom>
          <a:solidFill>
            <a:srgbClr val="1D8348"/>
          </a:solidFill>
          <a:ln/>
        </p:spPr>
        <p:txBody>
          <a:bodyPr/>
          <a:lstStyle/>
          <a:p>
            <a:endParaRPr lang="en-US"/>
          </a:p>
        </p:txBody>
      </p:sp>
      <p:sp>
        <p:nvSpPr>
          <p:cNvPr id="9" name="Text 7"/>
          <p:cNvSpPr/>
          <p:nvPr/>
        </p:nvSpPr>
        <p:spPr>
          <a:xfrm>
            <a:off x="594360" y="1371600"/>
            <a:ext cx="3657600" cy="320040"/>
          </a:xfrm>
          <a:prstGeom prst="rect">
            <a:avLst/>
          </a:prstGeom>
          <a:noFill/>
          <a:ln/>
        </p:spPr>
        <p:txBody>
          <a:bodyPr wrap="square" lIns="0" tIns="0" rIns="0" bIns="0" rtlCol="0" anchor="ctr"/>
          <a:lstStyle/>
          <a:p>
            <a:pPr marL="0" indent="0">
              <a:buNone/>
            </a:pPr>
            <a:r>
              <a:rPr lang="en-US" sz="1500" b="1" kern="0" spc="200" dirty="0">
                <a:solidFill>
                  <a:srgbClr val="1D8348"/>
                </a:solidFill>
                <a:latin typeface="Calibri" pitchFamily="34" charset="0"/>
                <a:ea typeface="Calibri" pitchFamily="34" charset="-122"/>
                <a:cs typeface="Calibri" pitchFamily="34" charset="-120"/>
              </a:rPr>
              <a:t>OVER-PERFORMERS</a:t>
            </a:r>
            <a:endParaRPr lang="en-US" sz="1500" dirty="0"/>
          </a:p>
        </p:txBody>
      </p:sp>
      <p:sp>
        <p:nvSpPr>
          <p:cNvPr id="10" name="Text 8"/>
          <p:cNvSpPr/>
          <p:nvPr/>
        </p:nvSpPr>
        <p:spPr>
          <a:xfrm>
            <a:off x="594360" y="1828800"/>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UConn</a:t>
            </a:r>
            <a:endParaRPr lang="en-US" sz="1200" dirty="0"/>
          </a:p>
        </p:txBody>
      </p:sp>
      <p:sp>
        <p:nvSpPr>
          <p:cNvPr id="11" name="Text 9"/>
          <p:cNvSpPr/>
          <p:nvPr/>
        </p:nvSpPr>
        <p:spPr>
          <a:xfrm>
            <a:off x="2148840" y="1828800"/>
            <a:ext cx="640080" cy="256032"/>
          </a:xfrm>
          <a:prstGeom prst="rect">
            <a:avLst/>
          </a:prstGeom>
          <a:noFill/>
          <a:ln/>
        </p:spPr>
        <p:txBody>
          <a:bodyPr wrap="square" lIns="0" tIns="0" rIns="0" bIns="0" rtlCol="0" anchor="ctr"/>
          <a:lstStyle/>
          <a:p>
            <a:pPr marL="0" indent="0" algn="ctr">
              <a:buNone/>
            </a:pPr>
            <a:r>
              <a:rPr lang="en-US" sz="1200" b="1" dirty="0">
                <a:solidFill>
                  <a:srgbClr val="1D8348"/>
                </a:solidFill>
                <a:latin typeface="Calibri" pitchFamily="34" charset="0"/>
                <a:ea typeface="Calibri" pitchFamily="34" charset="-122"/>
                <a:cs typeface="Calibri" pitchFamily="34" charset="-120"/>
              </a:rPr>
              <a:t>+13.3</a:t>
            </a:r>
            <a:endParaRPr lang="en-US" sz="1200" dirty="0"/>
          </a:p>
        </p:txBody>
      </p:sp>
      <p:sp>
        <p:nvSpPr>
          <p:cNvPr id="12" name="Text 10"/>
          <p:cNvSpPr/>
          <p:nvPr/>
        </p:nvSpPr>
        <p:spPr>
          <a:xfrm>
            <a:off x="2788920" y="1828800"/>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4 titles from seeds 1, 3, 4, 7</a:t>
            </a:r>
            <a:endParaRPr lang="en-US" sz="1000" dirty="0"/>
          </a:p>
        </p:txBody>
      </p:sp>
      <p:sp>
        <p:nvSpPr>
          <p:cNvPr id="13" name="Shape 11"/>
          <p:cNvSpPr/>
          <p:nvPr/>
        </p:nvSpPr>
        <p:spPr>
          <a:xfrm>
            <a:off x="594360" y="2194560"/>
            <a:ext cx="3611880" cy="0"/>
          </a:xfrm>
          <a:prstGeom prst="line">
            <a:avLst/>
          </a:prstGeom>
          <a:noFill/>
          <a:ln w="6350">
            <a:solidFill>
              <a:srgbClr val="E2E7EE"/>
            </a:solidFill>
            <a:prstDash val="solid"/>
          </a:ln>
        </p:spPr>
        <p:txBody>
          <a:bodyPr/>
          <a:lstStyle/>
          <a:p>
            <a:endParaRPr lang="en-US"/>
          </a:p>
        </p:txBody>
      </p:sp>
      <p:sp>
        <p:nvSpPr>
          <p:cNvPr id="14" name="Text 12"/>
          <p:cNvSpPr/>
          <p:nvPr/>
        </p:nvSpPr>
        <p:spPr>
          <a:xfrm>
            <a:off x="594360" y="2340864"/>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Michigan St.</a:t>
            </a:r>
            <a:endParaRPr lang="en-US" sz="1200" dirty="0"/>
          </a:p>
        </p:txBody>
      </p:sp>
      <p:sp>
        <p:nvSpPr>
          <p:cNvPr id="15" name="Text 13"/>
          <p:cNvSpPr/>
          <p:nvPr/>
        </p:nvSpPr>
        <p:spPr>
          <a:xfrm>
            <a:off x="2148840" y="2340864"/>
            <a:ext cx="640080" cy="256032"/>
          </a:xfrm>
          <a:prstGeom prst="rect">
            <a:avLst/>
          </a:prstGeom>
          <a:noFill/>
          <a:ln/>
        </p:spPr>
        <p:txBody>
          <a:bodyPr wrap="square" lIns="0" tIns="0" rIns="0" bIns="0" rtlCol="0" anchor="ctr"/>
          <a:lstStyle/>
          <a:p>
            <a:pPr marL="0" indent="0" algn="ctr">
              <a:buNone/>
            </a:pPr>
            <a:r>
              <a:rPr lang="en-US" sz="1200" b="1" dirty="0">
                <a:solidFill>
                  <a:srgbClr val="1D8348"/>
                </a:solidFill>
                <a:latin typeface="Calibri" pitchFamily="34" charset="0"/>
                <a:ea typeface="Calibri" pitchFamily="34" charset="-122"/>
                <a:cs typeface="Calibri" pitchFamily="34" charset="-120"/>
              </a:rPr>
              <a:t>+10.1</a:t>
            </a:r>
            <a:endParaRPr lang="en-US" sz="1200" dirty="0"/>
          </a:p>
        </p:txBody>
      </p:sp>
      <p:sp>
        <p:nvSpPr>
          <p:cNvPr id="16" name="Text 14"/>
          <p:cNvSpPr/>
          <p:nvPr/>
        </p:nvSpPr>
        <p:spPr>
          <a:xfrm>
            <a:off x="2788920" y="2340864"/>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17 apps, always exceeds expectations</a:t>
            </a:r>
            <a:endParaRPr lang="en-US" sz="1000" dirty="0"/>
          </a:p>
        </p:txBody>
      </p:sp>
      <p:sp>
        <p:nvSpPr>
          <p:cNvPr id="17" name="Shape 15"/>
          <p:cNvSpPr/>
          <p:nvPr/>
        </p:nvSpPr>
        <p:spPr>
          <a:xfrm>
            <a:off x="594360" y="2706624"/>
            <a:ext cx="3611880" cy="0"/>
          </a:xfrm>
          <a:prstGeom prst="line">
            <a:avLst/>
          </a:prstGeom>
          <a:noFill/>
          <a:ln w="6350">
            <a:solidFill>
              <a:srgbClr val="E2E7EE"/>
            </a:solidFill>
            <a:prstDash val="solid"/>
          </a:ln>
        </p:spPr>
        <p:txBody>
          <a:bodyPr/>
          <a:lstStyle/>
          <a:p>
            <a:endParaRPr lang="en-US"/>
          </a:p>
        </p:txBody>
      </p:sp>
      <p:sp>
        <p:nvSpPr>
          <p:cNvPr id="18" name="Text 16"/>
          <p:cNvSpPr/>
          <p:nvPr/>
        </p:nvSpPr>
        <p:spPr>
          <a:xfrm>
            <a:off x="594360" y="2852928"/>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Butler</a:t>
            </a:r>
            <a:endParaRPr lang="en-US" sz="1200" dirty="0"/>
          </a:p>
        </p:txBody>
      </p:sp>
      <p:sp>
        <p:nvSpPr>
          <p:cNvPr id="19" name="Text 17"/>
          <p:cNvSpPr/>
          <p:nvPr/>
        </p:nvSpPr>
        <p:spPr>
          <a:xfrm>
            <a:off x="2148840" y="2852928"/>
            <a:ext cx="640080" cy="256032"/>
          </a:xfrm>
          <a:prstGeom prst="rect">
            <a:avLst/>
          </a:prstGeom>
          <a:noFill/>
          <a:ln/>
        </p:spPr>
        <p:txBody>
          <a:bodyPr wrap="square" lIns="0" tIns="0" rIns="0" bIns="0" rtlCol="0" anchor="ctr"/>
          <a:lstStyle/>
          <a:p>
            <a:pPr marL="0" indent="0" algn="ctr">
              <a:buNone/>
            </a:pPr>
            <a:r>
              <a:rPr lang="en-US" sz="1200" b="1" dirty="0">
                <a:solidFill>
                  <a:srgbClr val="1D8348"/>
                </a:solidFill>
                <a:latin typeface="Calibri" pitchFamily="34" charset="0"/>
                <a:ea typeface="Calibri" pitchFamily="34" charset="-122"/>
                <a:cs typeface="Calibri" pitchFamily="34" charset="-120"/>
              </a:rPr>
              <a:t>+9.2</a:t>
            </a:r>
            <a:endParaRPr lang="en-US" sz="1200" dirty="0"/>
          </a:p>
        </p:txBody>
      </p:sp>
      <p:sp>
        <p:nvSpPr>
          <p:cNvPr id="20" name="Text 18"/>
          <p:cNvSpPr/>
          <p:nvPr/>
        </p:nvSpPr>
        <p:spPr>
          <a:xfrm>
            <a:off x="2788920" y="2852928"/>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 Finals runs as a mid-major</a:t>
            </a:r>
            <a:endParaRPr lang="en-US" sz="1000" dirty="0"/>
          </a:p>
        </p:txBody>
      </p:sp>
      <p:sp>
        <p:nvSpPr>
          <p:cNvPr id="21" name="Shape 19"/>
          <p:cNvSpPr/>
          <p:nvPr/>
        </p:nvSpPr>
        <p:spPr>
          <a:xfrm>
            <a:off x="594360" y="3218688"/>
            <a:ext cx="3611880" cy="0"/>
          </a:xfrm>
          <a:prstGeom prst="line">
            <a:avLst/>
          </a:prstGeom>
          <a:noFill/>
          <a:ln w="6350">
            <a:solidFill>
              <a:srgbClr val="E2E7EE"/>
            </a:solidFill>
            <a:prstDash val="solid"/>
          </a:ln>
        </p:spPr>
        <p:txBody>
          <a:bodyPr/>
          <a:lstStyle/>
          <a:p>
            <a:endParaRPr lang="en-US"/>
          </a:p>
        </p:txBody>
      </p:sp>
      <p:sp>
        <p:nvSpPr>
          <p:cNvPr id="22" name="Text 20"/>
          <p:cNvSpPr/>
          <p:nvPr/>
        </p:nvSpPr>
        <p:spPr>
          <a:xfrm>
            <a:off x="594360" y="3364992"/>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Michigan</a:t>
            </a:r>
            <a:endParaRPr lang="en-US" sz="1200" dirty="0"/>
          </a:p>
        </p:txBody>
      </p:sp>
      <p:sp>
        <p:nvSpPr>
          <p:cNvPr id="23" name="Text 21"/>
          <p:cNvSpPr/>
          <p:nvPr/>
        </p:nvSpPr>
        <p:spPr>
          <a:xfrm>
            <a:off x="2148840" y="3364992"/>
            <a:ext cx="640080" cy="256032"/>
          </a:xfrm>
          <a:prstGeom prst="rect">
            <a:avLst/>
          </a:prstGeom>
          <a:noFill/>
          <a:ln/>
        </p:spPr>
        <p:txBody>
          <a:bodyPr wrap="square" lIns="0" tIns="0" rIns="0" bIns="0" rtlCol="0" anchor="ctr"/>
          <a:lstStyle/>
          <a:p>
            <a:pPr marL="0" indent="0" algn="ctr">
              <a:buNone/>
            </a:pPr>
            <a:r>
              <a:rPr lang="en-US" sz="1200" b="1" dirty="0">
                <a:solidFill>
                  <a:srgbClr val="1D8348"/>
                </a:solidFill>
                <a:latin typeface="Calibri" pitchFamily="34" charset="0"/>
                <a:ea typeface="Calibri" pitchFamily="34" charset="-122"/>
                <a:cs typeface="Calibri" pitchFamily="34" charset="-120"/>
              </a:rPr>
              <a:t>+8.5</a:t>
            </a:r>
            <a:endParaRPr lang="en-US" sz="1200" dirty="0"/>
          </a:p>
        </p:txBody>
      </p:sp>
      <p:sp>
        <p:nvSpPr>
          <p:cNvPr id="24" name="Text 22"/>
          <p:cNvSpPr/>
          <p:nvPr/>
        </p:nvSpPr>
        <p:spPr>
          <a:xfrm>
            <a:off x="2788920" y="3364992"/>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Avg #6 seed, plays like a #3</a:t>
            </a:r>
            <a:endParaRPr lang="en-US" sz="1000" dirty="0"/>
          </a:p>
        </p:txBody>
      </p:sp>
      <p:sp>
        <p:nvSpPr>
          <p:cNvPr id="25" name="Shape 23"/>
          <p:cNvSpPr/>
          <p:nvPr/>
        </p:nvSpPr>
        <p:spPr>
          <a:xfrm>
            <a:off x="594360" y="3730752"/>
            <a:ext cx="3611880" cy="0"/>
          </a:xfrm>
          <a:prstGeom prst="line">
            <a:avLst/>
          </a:prstGeom>
          <a:noFill/>
          <a:ln w="6350">
            <a:solidFill>
              <a:srgbClr val="E2E7EE"/>
            </a:solidFill>
            <a:prstDash val="solid"/>
          </a:ln>
        </p:spPr>
        <p:txBody>
          <a:bodyPr/>
          <a:lstStyle/>
          <a:p>
            <a:endParaRPr lang="en-US"/>
          </a:p>
        </p:txBody>
      </p:sp>
      <p:sp>
        <p:nvSpPr>
          <p:cNvPr id="26" name="Text 24"/>
          <p:cNvSpPr/>
          <p:nvPr/>
        </p:nvSpPr>
        <p:spPr>
          <a:xfrm>
            <a:off x="594360" y="3877056"/>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North Carolina</a:t>
            </a:r>
            <a:endParaRPr lang="en-US" sz="1200" dirty="0"/>
          </a:p>
        </p:txBody>
      </p:sp>
      <p:sp>
        <p:nvSpPr>
          <p:cNvPr id="27" name="Text 25"/>
          <p:cNvSpPr/>
          <p:nvPr/>
        </p:nvSpPr>
        <p:spPr>
          <a:xfrm>
            <a:off x="2148840" y="3877056"/>
            <a:ext cx="640080" cy="256032"/>
          </a:xfrm>
          <a:prstGeom prst="rect">
            <a:avLst/>
          </a:prstGeom>
          <a:noFill/>
          <a:ln/>
        </p:spPr>
        <p:txBody>
          <a:bodyPr wrap="square" lIns="0" tIns="0" rIns="0" bIns="0" rtlCol="0" anchor="ctr"/>
          <a:lstStyle/>
          <a:p>
            <a:pPr marL="0" indent="0" algn="ctr">
              <a:buNone/>
            </a:pPr>
            <a:r>
              <a:rPr lang="en-US" sz="1200" b="1" dirty="0">
                <a:solidFill>
                  <a:srgbClr val="1D8348"/>
                </a:solidFill>
                <a:latin typeface="Calibri" pitchFamily="34" charset="0"/>
                <a:ea typeface="Calibri" pitchFamily="34" charset="-122"/>
                <a:cs typeface="Calibri" pitchFamily="34" charset="-120"/>
              </a:rPr>
              <a:t>+8.2</a:t>
            </a:r>
            <a:endParaRPr lang="en-US" sz="1200" dirty="0"/>
          </a:p>
        </p:txBody>
      </p:sp>
      <p:sp>
        <p:nvSpPr>
          <p:cNvPr id="28" name="Text 26"/>
          <p:cNvSpPr/>
          <p:nvPr/>
        </p:nvSpPr>
        <p:spPr>
          <a:xfrm>
            <a:off x="2788920" y="3877056"/>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Blue-blood consistency</a:t>
            </a:r>
            <a:endParaRPr lang="en-US" sz="1000" dirty="0"/>
          </a:p>
        </p:txBody>
      </p:sp>
      <p:sp>
        <p:nvSpPr>
          <p:cNvPr id="29" name="Shape 27"/>
          <p:cNvSpPr/>
          <p:nvPr/>
        </p:nvSpPr>
        <p:spPr>
          <a:xfrm>
            <a:off x="4754880" y="1280160"/>
            <a:ext cx="4023360" cy="32461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30" name="Shape 28"/>
          <p:cNvSpPr/>
          <p:nvPr/>
        </p:nvSpPr>
        <p:spPr>
          <a:xfrm>
            <a:off x="4754880" y="1280160"/>
            <a:ext cx="54864" cy="3246120"/>
          </a:xfrm>
          <a:prstGeom prst="rect">
            <a:avLst/>
          </a:prstGeom>
          <a:solidFill>
            <a:srgbClr val="C0392B"/>
          </a:solidFill>
          <a:ln/>
        </p:spPr>
        <p:txBody>
          <a:bodyPr/>
          <a:lstStyle/>
          <a:p>
            <a:endParaRPr lang="en-US"/>
          </a:p>
        </p:txBody>
      </p:sp>
      <p:sp>
        <p:nvSpPr>
          <p:cNvPr id="31" name="Text 29"/>
          <p:cNvSpPr/>
          <p:nvPr/>
        </p:nvSpPr>
        <p:spPr>
          <a:xfrm>
            <a:off x="4983480" y="1371600"/>
            <a:ext cx="3657600" cy="320040"/>
          </a:xfrm>
          <a:prstGeom prst="rect">
            <a:avLst/>
          </a:prstGeom>
          <a:noFill/>
          <a:ln/>
        </p:spPr>
        <p:txBody>
          <a:bodyPr wrap="square" lIns="0" tIns="0" rIns="0" bIns="0" rtlCol="0" anchor="ctr"/>
          <a:lstStyle/>
          <a:p>
            <a:pPr marL="0" indent="0">
              <a:buNone/>
            </a:pPr>
            <a:r>
              <a:rPr lang="en-US" sz="1500" b="1" kern="0" spc="200" dirty="0">
                <a:solidFill>
                  <a:srgbClr val="C0392B"/>
                </a:solidFill>
                <a:latin typeface="Calibri" pitchFamily="34" charset="0"/>
                <a:ea typeface="Calibri" pitchFamily="34" charset="-122"/>
                <a:cs typeface="Calibri" pitchFamily="34" charset="-120"/>
              </a:rPr>
              <a:t>UNDER-PERFORMERS</a:t>
            </a:r>
            <a:endParaRPr lang="en-US" sz="1500" dirty="0"/>
          </a:p>
        </p:txBody>
      </p:sp>
      <p:sp>
        <p:nvSpPr>
          <p:cNvPr id="32" name="Text 30"/>
          <p:cNvSpPr/>
          <p:nvPr/>
        </p:nvSpPr>
        <p:spPr>
          <a:xfrm>
            <a:off x="4983480" y="1828800"/>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Georgetown</a:t>
            </a:r>
            <a:endParaRPr lang="en-US" sz="1200" dirty="0"/>
          </a:p>
        </p:txBody>
      </p:sp>
      <p:sp>
        <p:nvSpPr>
          <p:cNvPr id="33" name="Text 31"/>
          <p:cNvSpPr/>
          <p:nvPr/>
        </p:nvSpPr>
        <p:spPr>
          <a:xfrm>
            <a:off x="6537960" y="1828800"/>
            <a:ext cx="640080" cy="256032"/>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−8.1</a:t>
            </a:r>
            <a:endParaRPr lang="en-US" sz="1200" dirty="0"/>
          </a:p>
        </p:txBody>
      </p:sp>
      <p:sp>
        <p:nvSpPr>
          <p:cNvPr id="34" name="Text 32"/>
          <p:cNvSpPr/>
          <p:nvPr/>
        </p:nvSpPr>
        <p:spPr>
          <a:xfrm>
            <a:off x="7178040" y="1828800"/>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Avg #5 seed, 0.4 avg wins</a:t>
            </a:r>
            <a:endParaRPr lang="en-US" sz="1000" dirty="0"/>
          </a:p>
        </p:txBody>
      </p:sp>
      <p:sp>
        <p:nvSpPr>
          <p:cNvPr id="35" name="Shape 33"/>
          <p:cNvSpPr/>
          <p:nvPr/>
        </p:nvSpPr>
        <p:spPr>
          <a:xfrm>
            <a:off x="4983480" y="2194560"/>
            <a:ext cx="3611880" cy="0"/>
          </a:xfrm>
          <a:prstGeom prst="line">
            <a:avLst/>
          </a:prstGeom>
          <a:noFill/>
          <a:ln w="6350">
            <a:solidFill>
              <a:srgbClr val="E2E7EE"/>
            </a:solidFill>
            <a:prstDash val="solid"/>
          </a:ln>
        </p:spPr>
        <p:txBody>
          <a:bodyPr/>
          <a:lstStyle/>
          <a:p>
            <a:endParaRPr lang="en-US"/>
          </a:p>
        </p:txBody>
      </p:sp>
      <p:sp>
        <p:nvSpPr>
          <p:cNvPr id="36" name="Text 34"/>
          <p:cNvSpPr/>
          <p:nvPr/>
        </p:nvSpPr>
        <p:spPr>
          <a:xfrm>
            <a:off x="4983480" y="2340864"/>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Virginia</a:t>
            </a:r>
            <a:endParaRPr lang="en-US" sz="1200" dirty="0"/>
          </a:p>
        </p:txBody>
      </p:sp>
      <p:sp>
        <p:nvSpPr>
          <p:cNvPr id="37" name="Text 35"/>
          <p:cNvSpPr/>
          <p:nvPr/>
        </p:nvSpPr>
        <p:spPr>
          <a:xfrm>
            <a:off x="6537960" y="2340864"/>
            <a:ext cx="640080" cy="256032"/>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−7.9</a:t>
            </a:r>
            <a:endParaRPr lang="en-US" sz="1200" dirty="0"/>
          </a:p>
        </p:txBody>
      </p:sp>
      <p:sp>
        <p:nvSpPr>
          <p:cNvPr id="38" name="Text 36"/>
          <p:cNvSpPr/>
          <p:nvPr/>
        </p:nvSpPr>
        <p:spPr>
          <a:xfrm>
            <a:off x="7178040" y="2340864"/>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Title in 2019, but chronic misses</a:t>
            </a:r>
            <a:endParaRPr lang="en-US" sz="1000" dirty="0"/>
          </a:p>
        </p:txBody>
      </p:sp>
      <p:sp>
        <p:nvSpPr>
          <p:cNvPr id="39" name="Shape 37"/>
          <p:cNvSpPr/>
          <p:nvPr/>
        </p:nvSpPr>
        <p:spPr>
          <a:xfrm>
            <a:off x="4983480" y="2706624"/>
            <a:ext cx="3611880" cy="0"/>
          </a:xfrm>
          <a:prstGeom prst="line">
            <a:avLst/>
          </a:prstGeom>
          <a:noFill/>
          <a:ln w="6350">
            <a:solidFill>
              <a:srgbClr val="E2E7EE"/>
            </a:solidFill>
            <a:prstDash val="solid"/>
          </a:ln>
        </p:spPr>
        <p:txBody>
          <a:bodyPr/>
          <a:lstStyle/>
          <a:p>
            <a:endParaRPr lang="en-US"/>
          </a:p>
        </p:txBody>
      </p:sp>
      <p:sp>
        <p:nvSpPr>
          <p:cNvPr id="40" name="Text 38"/>
          <p:cNvSpPr/>
          <p:nvPr/>
        </p:nvSpPr>
        <p:spPr>
          <a:xfrm>
            <a:off x="4983480" y="2852928"/>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Vanderbilt</a:t>
            </a:r>
            <a:endParaRPr lang="en-US" sz="1200" dirty="0"/>
          </a:p>
        </p:txBody>
      </p:sp>
      <p:sp>
        <p:nvSpPr>
          <p:cNvPr id="41" name="Text 39"/>
          <p:cNvSpPr/>
          <p:nvPr/>
        </p:nvSpPr>
        <p:spPr>
          <a:xfrm>
            <a:off x="6537960" y="2852928"/>
            <a:ext cx="640080" cy="256032"/>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−6.3</a:t>
            </a:r>
            <a:endParaRPr lang="en-US" sz="1200" dirty="0"/>
          </a:p>
        </p:txBody>
      </p:sp>
      <p:sp>
        <p:nvSpPr>
          <p:cNvPr id="42" name="Text 40"/>
          <p:cNvSpPr/>
          <p:nvPr/>
        </p:nvSpPr>
        <p:spPr>
          <a:xfrm>
            <a:off x="7178040" y="2852928"/>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7 apps, nearly always one-and-done</a:t>
            </a:r>
            <a:endParaRPr lang="en-US" sz="1000" dirty="0"/>
          </a:p>
        </p:txBody>
      </p:sp>
      <p:sp>
        <p:nvSpPr>
          <p:cNvPr id="43" name="Shape 41"/>
          <p:cNvSpPr/>
          <p:nvPr/>
        </p:nvSpPr>
        <p:spPr>
          <a:xfrm>
            <a:off x="4983480" y="3218688"/>
            <a:ext cx="3611880" cy="0"/>
          </a:xfrm>
          <a:prstGeom prst="line">
            <a:avLst/>
          </a:prstGeom>
          <a:noFill/>
          <a:ln w="6350">
            <a:solidFill>
              <a:srgbClr val="E2E7EE"/>
            </a:solidFill>
            <a:prstDash val="solid"/>
          </a:ln>
        </p:spPr>
        <p:txBody>
          <a:bodyPr/>
          <a:lstStyle/>
          <a:p>
            <a:endParaRPr lang="en-US"/>
          </a:p>
        </p:txBody>
      </p:sp>
      <p:sp>
        <p:nvSpPr>
          <p:cNvPr id="44" name="Text 42"/>
          <p:cNvSpPr/>
          <p:nvPr/>
        </p:nvSpPr>
        <p:spPr>
          <a:xfrm>
            <a:off x="4983480" y="3364992"/>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Pittsburgh</a:t>
            </a:r>
            <a:endParaRPr lang="en-US" sz="1200" dirty="0"/>
          </a:p>
        </p:txBody>
      </p:sp>
      <p:sp>
        <p:nvSpPr>
          <p:cNvPr id="45" name="Text 43"/>
          <p:cNvSpPr/>
          <p:nvPr/>
        </p:nvSpPr>
        <p:spPr>
          <a:xfrm>
            <a:off x="6537960" y="3364992"/>
            <a:ext cx="640080" cy="256032"/>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−4.8</a:t>
            </a:r>
            <a:endParaRPr lang="en-US" sz="1200" dirty="0"/>
          </a:p>
        </p:txBody>
      </p:sp>
      <p:sp>
        <p:nvSpPr>
          <p:cNvPr id="46" name="Text 44"/>
          <p:cNvSpPr/>
          <p:nvPr/>
        </p:nvSpPr>
        <p:spPr>
          <a:xfrm>
            <a:off x="7178040" y="3364992"/>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Ceiling is the Sweet 16</a:t>
            </a:r>
            <a:endParaRPr lang="en-US" sz="1000" dirty="0"/>
          </a:p>
        </p:txBody>
      </p:sp>
      <p:sp>
        <p:nvSpPr>
          <p:cNvPr id="47" name="Shape 45"/>
          <p:cNvSpPr/>
          <p:nvPr/>
        </p:nvSpPr>
        <p:spPr>
          <a:xfrm>
            <a:off x="4983480" y="3730752"/>
            <a:ext cx="3611880" cy="0"/>
          </a:xfrm>
          <a:prstGeom prst="line">
            <a:avLst/>
          </a:prstGeom>
          <a:noFill/>
          <a:ln w="6350">
            <a:solidFill>
              <a:srgbClr val="E2E7EE"/>
            </a:solidFill>
            <a:prstDash val="solid"/>
          </a:ln>
        </p:spPr>
        <p:txBody>
          <a:bodyPr/>
          <a:lstStyle/>
          <a:p>
            <a:endParaRPr lang="en-US"/>
          </a:p>
        </p:txBody>
      </p:sp>
      <p:sp>
        <p:nvSpPr>
          <p:cNvPr id="48" name="Text 46"/>
          <p:cNvSpPr/>
          <p:nvPr/>
        </p:nvSpPr>
        <p:spPr>
          <a:xfrm>
            <a:off x="4983480" y="3877056"/>
            <a:ext cx="1554480" cy="256032"/>
          </a:xfrm>
          <a:prstGeom prst="rect">
            <a:avLst/>
          </a:prstGeom>
          <a:noFill/>
          <a:ln/>
        </p:spPr>
        <p:txBody>
          <a:bodyPr wrap="square" lIns="0" tIns="0" rIns="0" bIns="0" rtlCol="0" anchor="ctr"/>
          <a:lstStyle/>
          <a:p>
            <a:pPr marL="0" indent="0">
              <a:buNone/>
            </a:pPr>
            <a:r>
              <a:rPr lang="en-US" sz="1200" b="1" dirty="0">
                <a:solidFill>
                  <a:srgbClr val="0F1B33"/>
                </a:solidFill>
                <a:latin typeface="Calibri" pitchFamily="34" charset="0"/>
                <a:ea typeface="Calibri" pitchFamily="34" charset="-122"/>
                <a:cs typeface="Calibri" pitchFamily="34" charset="-120"/>
              </a:rPr>
              <a:t>Kansas</a:t>
            </a:r>
            <a:endParaRPr lang="en-US" sz="1200" dirty="0"/>
          </a:p>
        </p:txBody>
      </p:sp>
      <p:sp>
        <p:nvSpPr>
          <p:cNvPr id="49" name="Text 47"/>
          <p:cNvSpPr/>
          <p:nvPr/>
        </p:nvSpPr>
        <p:spPr>
          <a:xfrm>
            <a:off x="6537960" y="3877056"/>
            <a:ext cx="640080" cy="256032"/>
          </a:xfrm>
          <a:prstGeom prst="rect">
            <a:avLst/>
          </a:prstGeom>
          <a:noFill/>
          <a:ln/>
        </p:spPr>
        <p:txBody>
          <a:bodyPr wrap="square" lIns="0" tIns="0" rIns="0" bIns="0"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−3.3</a:t>
            </a:r>
            <a:endParaRPr lang="en-US" sz="1200" dirty="0"/>
          </a:p>
        </p:txBody>
      </p:sp>
      <p:sp>
        <p:nvSpPr>
          <p:cNvPr id="50" name="Text 48"/>
          <p:cNvSpPr/>
          <p:nvPr/>
        </p:nvSpPr>
        <p:spPr>
          <a:xfrm>
            <a:off x="7178040" y="3877056"/>
            <a:ext cx="1554480" cy="256032"/>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2022 title doesn’t erase the pattern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0F1B33"/>
                </a:solidFill>
                <a:latin typeface="Georgia" pitchFamily="34" charset="0"/>
                <a:ea typeface="Georgia" pitchFamily="34" charset="-122"/>
                <a:cs typeface="Georgia" pitchFamily="34" charset="-120"/>
              </a:rPr>
              <a:t>What actually predicts March success?</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Our model reveals: it’s not how you shoot — it’s who you beat</a:t>
            </a:r>
            <a:endParaRPr lang="en-US" sz="13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365760" y="1280160"/>
            <a:ext cx="4023360" cy="2011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365760" y="1280160"/>
            <a:ext cx="54864" cy="2011680"/>
          </a:xfrm>
          <a:prstGeom prst="rect">
            <a:avLst/>
          </a:prstGeom>
          <a:solidFill>
            <a:srgbClr val="C0392B"/>
          </a:solidFill>
          <a:ln/>
        </p:spPr>
        <p:txBody>
          <a:bodyPr/>
          <a:lstStyle/>
          <a:p>
            <a:endParaRPr lang="en-US"/>
          </a:p>
        </p:txBody>
      </p:sp>
      <p:sp>
        <p:nvSpPr>
          <p:cNvPr id="9" name="Text 7"/>
          <p:cNvSpPr/>
          <p:nvPr/>
        </p:nvSpPr>
        <p:spPr>
          <a:xfrm>
            <a:off x="594360" y="1371600"/>
            <a:ext cx="3657600" cy="274320"/>
          </a:xfrm>
          <a:prstGeom prst="rect">
            <a:avLst/>
          </a:prstGeom>
          <a:noFill/>
          <a:ln/>
        </p:spPr>
        <p:txBody>
          <a:bodyPr wrap="square" lIns="0" tIns="0" rIns="0" bIns="0" rtlCol="0" anchor="ctr"/>
          <a:lstStyle/>
          <a:p>
            <a:pPr marL="0" indent="0">
              <a:buNone/>
            </a:pPr>
            <a:r>
              <a:rPr lang="en-US" sz="1300" b="1" kern="0" spc="100" dirty="0">
                <a:solidFill>
                  <a:srgbClr val="C0392B"/>
                </a:solidFill>
                <a:latin typeface="Calibri" pitchFamily="34" charset="0"/>
                <a:ea typeface="Calibri" pitchFamily="34" charset="-122"/>
                <a:cs typeface="Calibri" pitchFamily="34" charset="-120"/>
              </a:rPr>
              <a:t>MATTERS LESS THAN YOU’D THINK</a:t>
            </a:r>
            <a:endParaRPr lang="en-US" sz="1300" dirty="0"/>
          </a:p>
        </p:txBody>
      </p:sp>
      <p:sp>
        <p:nvSpPr>
          <p:cNvPr id="10" name="Text 8"/>
          <p:cNvSpPr/>
          <p:nvPr/>
        </p:nvSpPr>
        <p:spPr>
          <a:xfrm>
            <a:off x="640080" y="1783080"/>
            <a:ext cx="274320" cy="256032"/>
          </a:xfrm>
          <a:prstGeom prst="rect">
            <a:avLst/>
          </a:prstGeom>
          <a:noFill/>
          <a:ln/>
        </p:spPr>
        <p:txBody>
          <a:bodyPr wrap="square" lIns="0" tIns="0" rIns="0" bIns="0" rtlCol="0" anchor="ct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914400" y="1783080"/>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Effective field goal % (EFG%)</a:t>
            </a:r>
            <a:endParaRPr lang="en-US" sz="1200" dirty="0"/>
          </a:p>
        </p:txBody>
      </p:sp>
      <p:sp>
        <p:nvSpPr>
          <p:cNvPr id="12" name="Text 10"/>
          <p:cNvSpPr/>
          <p:nvPr/>
        </p:nvSpPr>
        <p:spPr>
          <a:xfrm>
            <a:off x="640080" y="2084832"/>
            <a:ext cx="274320" cy="256032"/>
          </a:xfrm>
          <a:prstGeom prst="rect">
            <a:avLst/>
          </a:prstGeom>
          <a:noFill/>
          <a:ln/>
        </p:spPr>
        <p:txBody>
          <a:bodyPr wrap="square" lIns="0" tIns="0" rIns="0" bIns="0" rtlCol="0" anchor="ct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914400" y="2084832"/>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Three-point shooting rate</a:t>
            </a:r>
            <a:endParaRPr lang="en-US" sz="1200" dirty="0"/>
          </a:p>
        </p:txBody>
      </p:sp>
      <p:sp>
        <p:nvSpPr>
          <p:cNvPr id="14" name="Text 12"/>
          <p:cNvSpPr/>
          <p:nvPr/>
        </p:nvSpPr>
        <p:spPr>
          <a:xfrm>
            <a:off x="640080" y="2386584"/>
            <a:ext cx="274320" cy="256032"/>
          </a:xfrm>
          <a:prstGeom prst="rect">
            <a:avLst/>
          </a:prstGeom>
          <a:noFill/>
          <a:ln/>
        </p:spPr>
        <p:txBody>
          <a:bodyPr wrap="square" lIns="0" tIns="0" rIns="0" bIns="0" rtlCol="0" anchor="ct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914400" y="2386584"/>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Free throw rate</a:t>
            </a:r>
            <a:endParaRPr lang="en-US" sz="1200" dirty="0"/>
          </a:p>
        </p:txBody>
      </p:sp>
      <p:sp>
        <p:nvSpPr>
          <p:cNvPr id="16" name="Text 14"/>
          <p:cNvSpPr/>
          <p:nvPr/>
        </p:nvSpPr>
        <p:spPr>
          <a:xfrm>
            <a:off x="640080" y="2688336"/>
            <a:ext cx="274320" cy="256032"/>
          </a:xfrm>
          <a:prstGeom prst="rect">
            <a:avLst/>
          </a:prstGeom>
          <a:noFill/>
          <a:ln/>
        </p:spPr>
        <p:txBody>
          <a:bodyPr wrap="square" lIns="0" tIns="0" rIns="0" bIns="0" rtlCol="0" anchor="ct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914400" y="2688336"/>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Turnover rate</a:t>
            </a:r>
            <a:endParaRPr lang="en-US" sz="1200" dirty="0"/>
          </a:p>
        </p:txBody>
      </p:sp>
      <p:sp>
        <p:nvSpPr>
          <p:cNvPr id="18" name="Text 16"/>
          <p:cNvSpPr/>
          <p:nvPr/>
        </p:nvSpPr>
        <p:spPr>
          <a:xfrm>
            <a:off x="640080" y="2990088"/>
            <a:ext cx="274320" cy="256032"/>
          </a:xfrm>
          <a:prstGeom prst="rect">
            <a:avLst/>
          </a:prstGeom>
          <a:noFill/>
          <a:ln/>
        </p:spPr>
        <p:txBody>
          <a:bodyPr wrap="square" lIns="0" tIns="0" rIns="0" bIns="0" rtlCol="0" anchor="ctr"/>
          <a:lstStyle/>
          <a:p>
            <a:pPr marL="0" indent="0" algn="ctr">
              <a:buNone/>
            </a:pPr>
            <a:r>
              <a:rPr lang="en-US" sz="1200" dirty="0">
                <a:solidFill>
                  <a:srgbClr val="C0392B"/>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914400" y="2990088"/>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Tempo (possessions per game)</a:t>
            </a:r>
            <a:endParaRPr lang="en-US" sz="1200" dirty="0"/>
          </a:p>
        </p:txBody>
      </p:sp>
      <p:sp>
        <p:nvSpPr>
          <p:cNvPr id="20" name="Shape 18"/>
          <p:cNvSpPr/>
          <p:nvPr/>
        </p:nvSpPr>
        <p:spPr>
          <a:xfrm>
            <a:off x="4754880" y="1280160"/>
            <a:ext cx="4023360" cy="201168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1" name="Shape 19"/>
          <p:cNvSpPr/>
          <p:nvPr/>
        </p:nvSpPr>
        <p:spPr>
          <a:xfrm>
            <a:off x="4754880" y="1280160"/>
            <a:ext cx="54864" cy="2011680"/>
          </a:xfrm>
          <a:prstGeom prst="rect">
            <a:avLst/>
          </a:prstGeom>
          <a:solidFill>
            <a:srgbClr val="1D8348"/>
          </a:solidFill>
          <a:ln/>
        </p:spPr>
        <p:txBody>
          <a:bodyPr/>
          <a:lstStyle/>
          <a:p>
            <a:endParaRPr lang="en-US"/>
          </a:p>
        </p:txBody>
      </p:sp>
      <p:sp>
        <p:nvSpPr>
          <p:cNvPr id="22" name="Text 20"/>
          <p:cNvSpPr/>
          <p:nvPr/>
        </p:nvSpPr>
        <p:spPr>
          <a:xfrm>
            <a:off x="4983480" y="1371600"/>
            <a:ext cx="3657600" cy="274320"/>
          </a:xfrm>
          <a:prstGeom prst="rect">
            <a:avLst/>
          </a:prstGeom>
          <a:noFill/>
          <a:ln/>
        </p:spPr>
        <p:txBody>
          <a:bodyPr wrap="square" lIns="0" tIns="0" rIns="0" bIns="0" rtlCol="0" anchor="ctr"/>
          <a:lstStyle/>
          <a:p>
            <a:pPr marL="0" indent="0">
              <a:buNone/>
            </a:pPr>
            <a:r>
              <a:rPr lang="en-US" sz="1300" b="1" kern="0" spc="100" dirty="0">
                <a:solidFill>
                  <a:srgbClr val="1D8348"/>
                </a:solidFill>
                <a:latin typeface="Calibri" pitchFamily="34" charset="0"/>
                <a:ea typeface="Calibri" pitchFamily="34" charset="-122"/>
                <a:cs typeface="Calibri" pitchFamily="34" charset="-120"/>
              </a:rPr>
              <a:t>WHAT ACTUALLY DRIVES DEEP RUNS</a:t>
            </a:r>
            <a:endParaRPr lang="en-US" sz="1300" dirty="0"/>
          </a:p>
        </p:txBody>
      </p:sp>
      <p:sp>
        <p:nvSpPr>
          <p:cNvPr id="23" name="Text 21"/>
          <p:cNvSpPr/>
          <p:nvPr/>
        </p:nvSpPr>
        <p:spPr>
          <a:xfrm>
            <a:off x="5029200" y="1783080"/>
            <a:ext cx="274320" cy="256032"/>
          </a:xfrm>
          <a:prstGeom prst="rect">
            <a:avLst/>
          </a:prstGeom>
          <a:noFill/>
          <a:ln/>
        </p:spPr>
        <p:txBody>
          <a:bodyPr wrap="square" lIns="0" tIns="0" rIns="0" bIns="0" rtlCol="0" anchor="ctr"/>
          <a:lstStyle/>
          <a:p>
            <a:pPr marL="0" indent="0" algn="ctr">
              <a:buNone/>
            </a:pPr>
            <a:r>
              <a:rPr lang="en-US" sz="1200" dirty="0">
                <a:solidFill>
                  <a:srgbClr val="1D8348"/>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5303520" y="1783080"/>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Resume Score (who you played &amp; beat)</a:t>
            </a:r>
            <a:endParaRPr lang="en-US" sz="1200" dirty="0"/>
          </a:p>
        </p:txBody>
      </p:sp>
      <p:sp>
        <p:nvSpPr>
          <p:cNvPr id="25" name="Text 23"/>
          <p:cNvSpPr/>
          <p:nvPr/>
        </p:nvSpPr>
        <p:spPr>
          <a:xfrm>
            <a:off x="5029200" y="2084832"/>
            <a:ext cx="274320" cy="256032"/>
          </a:xfrm>
          <a:prstGeom prst="rect">
            <a:avLst/>
          </a:prstGeom>
          <a:noFill/>
          <a:ln/>
        </p:spPr>
        <p:txBody>
          <a:bodyPr wrap="square" lIns="0" tIns="0" rIns="0" bIns="0" rtlCol="0" anchor="ctr"/>
          <a:lstStyle/>
          <a:p>
            <a:pPr marL="0" indent="0" algn="ctr">
              <a:buNone/>
            </a:pPr>
            <a:r>
              <a:rPr lang="en-US" sz="1200" dirty="0">
                <a:solidFill>
                  <a:srgbClr val="1D8348"/>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5303520" y="2084832"/>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Wins Above Bubble (quality wins)</a:t>
            </a:r>
            <a:endParaRPr lang="en-US" sz="1200" dirty="0"/>
          </a:p>
        </p:txBody>
      </p:sp>
      <p:sp>
        <p:nvSpPr>
          <p:cNvPr id="27" name="Text 25"/>
          <p:cNvSpPr/>
          <p:nvPr/>
        </p:nvSpPr>
        <p:spPr>
          <a:xfrm>
            <a:off x="5029200" y="2386584"/>
            <a:ext cx="274320" cy="256032"/>
          </a:xfrm>
          <a:prstGeom prst="rect">
            <a:avLst/>
          </a:prstGeom>
          <a:noFill/>
          <a:ln/>
        </p:spPr>
        <p:txBody>
          <a:bodyPr wrap="square" lIns="0" tIns="0" rIns="0" bIns="0" rtlCol="0" anchor="ctr"/>
          <a:lstStyle/>
          <a:p>
            <a:pPr marL="0" indent="0" algn="ctr">
              <a:buNone/>
            </a:pPr>
            <a:r>
              <a:rPr lang="en-US" sz="1200" dirty="0">
                <a:solidFill>
                  <a:srgbClr val="1D8348"/>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5303520" y="2386584"/>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Adjusted efficiency margin</a:t>
            </a:r>
            <a:endParaRPr lang="en-US" sz="1200" dirty="0"/>
          </a:p>
        </p:txBody>
      </p:sp>
      <p:sp>
        <p:nvSpPr>
          <p:cNvPr id="29" name="Text 27"/>
          <p:cNvSpPr/>
          <p:nvPr/>
        </p:nvSpPr>
        <p:spPr>
          <a:xfrm>
            <a:off x="5029200" y="2688336"/>
            <a:ext cx="274320" cy="256032"/>
          </a:xfrm>
          <a:prstGeom prst="rect">
            <a:avLst/>
          </a:prstGeom>
          <a:noFill/>
          <a:ln/>
        </p:spPr>
        <p:txBody>
          <a:bodyPr wrap="square" lIns="0" tIns="0" rIns="0" bIns="0" rtlCol="0" anchor="ctr"/>
          <a:lstStyle/>
          <a:p>
            <a:pPr marL="0" indent="0" algn="ctr">
              <a:buNone/>
            </a:pPr>
            <a:r>
              <a:rPr lang="en-US" sz="1200" dirty="0">
                <a:solidFill>
                  <a:srgbClr val="1D8348"/>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5303520" y="2688336"/>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Conference strength</a:t>
            </a:r>
            <a:endParaRPr lang="en-US" sz="1200" dirty="0"/>
          </a:p>
        </p:txBody>
      </p:sp>
      <p:sp>
        <p:nvSpPr>
          <p:cNvPr id="31" name="Text 29"/>
          <p:cNvSpPr/>
          <p:nvPr/>
        </p:nvSpPr>
        <p:spPr>
          <a:xfrm>
            <a:off x="5029200" y="2990088"/>
            <a:ext cx="274320" cy="256032"/>
          </a:xfrm>
          <a:prstGeom prst="rect">
            <a:avLst/>
          </a:prstGeom>
          <a:noFill/>
          <a:ln/>
        </p:spPr>
        <p:txBody>
          <a:bodyPr wrap="square" lIns="0" tIns="0" rIns="0" bIns="0" rtlCol="0" anchor="ctr"/>
          <a:lstStyle/>
          <a:p>
            <a:pPr marL="0" indent="0" algn="ctr">
              <a:buNone/>
            </a:pPr>
            <a:r>
              <a:rPr lang="en-US" sz="1200" dirty="0">
                <a:solidFill>
                  <a:srgbClr val="1D8348"/>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5303520" y="2990088"/>
            <a:ext cx="329184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Prior tournament experience</a:t>
            </a:r>
            <a:endParaRPr lang="en-US" sz="1200" dirty="0"/>
          </a:p>
        </p:txBody>
      </p:sp>
      <p:sp>
        <p:nvSpPr>
          <p:cNvPr id="33" name="Shape 31"/>
          <p:cNvSpPr/>
          <p:nvPr/>
        </p:nvSpPr>
        <p:spPr>
          <a:xfrm>
            <a:off x="365760" y="3520440"/>
            <a:ext cx="841248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34" name="Shape 32"/>
          <p:cNvSpPr/>
          <p:nvPr/>
        </p:nvSpPr>
        <p:spPr>
          <a:xfrm>
            <a:off x="365760" y="3520440"/>
            <a:ext cx="8412480" cy="45720"/>
          </a:xfrm>
          <a:prstGeom prst="rect">
            <a:avLst/>
          </a:prstGeom>
          <a:solidFill>
            <a:srgbClr val="D4782F"/>
          </a:solidFill>
          <a:ln/>
        </p:spPr>
        <p:txBody>
          <a:bodyPr/>
          <a:lstStyle/>
          <a:p>
            <a:endParaRPr lang="en-US"/>
          </a:p>
        </p:txBody>
      </p:sp>
      <p:sp>
        <p:nvSpPr>
          <p:cNvPr id="35" name="Text 33"/>
          <p:cNvSpPr/>
          <p:nvPr/>
        </p:nvSpPr>
        <p:spPr>
          <a:xfrm>
            <a:off x="594360" y="3611880"/>
            <a:ext cx="7955280" cy="777240"/>
          </a:xfrm>
          <a:prstGeom prst="rect">
            <a:avLst/>
          </a:prstGeom>
          <a:noFill/>
          <a:ln/>
        </p:spPr>
        <p:txBody>
          <a:bodyPr wrap="square" lIns="0" tIns="0" rIns="0" bIns="0" rtlCol="0" anchor="ctr"/>
          <a:lstStyle/>
          <a:p>
            <a:pPr marL="0" indent="0">
              <a:lnSpc>
                <a:spcPct val="130000"/>
              </a:lnSpc>
              <a:buNone/>
            </a:pPr>
            <a:r>
              <a:rPr lang="en-US" sz="1400" b="1" dirty="0">
                <a:solidFill>
                  <a:srgbClr val="0F1B33"/>
                </a:solidFill>
                <a:latin typeface="Georgia" pitchFamily="34" charset="0"/>
                <a:ea typeface="Georgia" pitchFamily="34" charset="-122"/>
                <a:cs typeface="Georgia" pitchFamily="34" charset="-120"/>
              </a:rPr>
              <a:t>The takeaway: </a:t>
            </a:r>
            <a:r>
              <a:rPr lang="en-US" sz="1300" dirty="0">
                <a:solidFill>
                  <a:srgbClr val="444444"/>
                </a:solidFill>
                <a:latin typeface="Calibri" pitchFamily="34" charset="0"/>
                <a:ea typeface="Calibri" pitchFamily="34" charset="-122"/>
                <a:cs typeface="Calibri" pitchFamily="34" charset="-120"/>
              </a:rPr>
              <a:t>The tournament doesn’t reward style. It rewards preparation. Teams that scheduled hard, won the games they were supposed to win, and built a body of work against quality competition are the ones that go deep in March.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000" b="1" dirty="0">
                <a:solidFill>
                  <a:srgbClr val="0F1B33"/>
                </a:solidFill>
                <a:latin typeface="Georgia" pitchFamily="34" charset="0"/>
                <a:ea typeface="Georgia" pitchFamily="34" charset="-122"/>
                <a:cs typeface="Georgia" pitchFamily="34" charset="-120"/>
              </a:rPr>
              <a:t>How we built and tested the model</a:t>
            </a:r>
            <a:endParaRPr lang="en-US" sz="30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Gradient Boosting with Leave-One-Year-Out cross-validation</a:t>
            </a:r>
            <a:endParaRPr lang="en-US" sz="14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365760" y="1280160"/>
            <a:ext cx="2606040" cy="18288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365760" y="1280160"/>
            <a:ext cx="54864" cy="1828800"/>
          </a:xfrm>
          <a:prstGeom prst="rect">
            <a:avLst/>
          </a:prstGeom>
          <a:solidFill>
            <a:srgbClr val="0F1B33"/>
          </a:solidFill>
          <a:ln/>
        </p:spPr>
        <p:txBody>
          <a:bodyPr/>
          <a:lstStyle/>
          <a:p>
            <a:endParaRPr lang="en-US"/>
          </a:p>
        </p:txBody>
      </p:sp>
      <p:sp>
        <p:nvSpPr>
          <p:cNvPr id="9" name="Text 7"/>
          <p:cNvSpPr/>
          <p:nvPr/>
        </p:nvSpPr>
        <p:spPr>
          <a:xfrm>
            <a:off x="548640" y="1325880"/>
            <a:ext cx="365760" cy="320040"/>
          </a:xfrm>
          <a:prstGeom prst="rect">
            <a:avLst/>
          </a:prstGeom>
          <a:noFill/>
          <a:ln/>
        </p:spPr>
        <p:txBody>
          <a:bodyPr wrap="square" lIns="0" tIns="0" rIns="0" bIns="0" rtlCol="0" anchor="ctr"/>
          <a:lstStyle/>
          <a:p>
            <a:pPr marL="0" indent="0">
              <a:buNone/>
            </a:pPr>
            <a:r>
              <a:rPr lang="en-US" sz="2200" b="1" dirty="0">
                <a:solidFill>
                  <a:srgbClr val="0F1B33"/>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914400" y="1353312"/>
            <a:ext cx="1920240" cy="274320"/>
          </a:xfrm>
          <a:prstGeom prst="rect">
            <a:avLst/>
          </a:prstGeom>
          <a:noFill/>
          <a:ln/>
        </p:spPr>
        <p:txBody>
          <a:bodyPr wrap="square" lIns="0" tIns="0" rIns="0" bIns="0" rtlCol="0" anchor="ctr"/>
          <a:lstStyle/>
          <a:p>
            <a:pPr marL="0" indent="0">
              <a:buNone/>
            </a:pPr>
            <a:r>
              <a:rPr lang="en-US" sz="1100" b="1" kern="0" spc="100" dirty="0">
                <a:solidFill>
                  <a:srgbClr val="0F1B33"/>
                </a:solidFill>
                <a:latin typeface="Calibri" pitchFamily="34" charset="0"/>
                <a:ea typeface="Calibri" pitchFamily="34" charset="-122"/>
                <a:cs typeface="Calibri" pitchFamily="34" charset="-120"/>
              </a:rPr>
              <a:t>DEFINE THE FUNCTION</a:t>
            </a:r>
            <a:endParaRPr lang="en-US" sz="1100" dirty="0"/>
          </a:p>
        </p:txBody>
      </p:sp>
      <p:sp>
        <p:nvSpPr>
          <p:cNvPr id="11" name="Text 9"/>
          <p:cNvSpPr/>
          <p:nvPr/>
        </p:nvSpPr>
        <p:spPr>
          <a:xfrm>
            <a:off x="548640" y="1783080"/>
            <a:ext cx="2286000" cy="274320"/>
          </a:xfrm>
          <a:prstGeom prst="rect">
            <a:avLst/>
          </a:prstGeom>
          <a:noFill/>
          <a:ln/>
        </p:spPr>
        <p:txBody>
          <a:bodyPr wrap="square" lIns="0" tIns="0" rIns="0" bIns="0" rtlCol="0" anchor="ctr"/>
          <a:lstStyle/>
          <a:p>
            <a:pPr marL="0" indent="0">
              <a:buNone/>
            </a:pPr>
            <a:r>
              <a:rPr lang="en-US" sz="1200" b="1" dirty="0">
                <a:solidFill>
                  <a:srgbClr val="D4782F"/>
                </a:solidFill>
                <a:latin typeface="Calibri" pitchFamily="34" charset="0"/>
                <a:ea typeface="Calibri" pitchFamily="34" charset="-122"/>
                <a:cs typeface="Calibri" pitchFamily="34" charset="-120"/>
              </a:rPr>
              <a:t>(x₁, x₂, x₃ ...) → rounds advanced</a:t>
            </a:r>
            <a:endParaRPr lang="en-US" sz="1200" dirty="0"/>
          </a:p>
        </p:txBody>
      </p:sp>
      <p:sp>
        <p:nvSpPr>
          <p:cNvPr id="12" name="Text 10"/>
          <p:cNvSpPr/>
          <p:nvPr/>
        </p:nvSpPr>
        <p:spPr>
          <a:xfrm>
            <a:off x="548640" y="2148840"/>
            <a:ext cx="2286000" cy="640080"/>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35 pre-tournament stats go in. Predicted tournament wins come out.</a:t>
            </a:r>
            <a:endParaRPr lang="en-US" sz="1100" dirty="0"/>
          </a:p>
        </p:txBody>
      </p:sp>
      <p:sp>
        <p:nvSpPr>
          <p:cNvPr id="13" name="Shape 11"/>
          <p:cNvSpPr/>
          <p:nvPr/>
        </p:nvSpPr>
        <p:spPr>
          <a:xfrm>
            <a:off x="3246120" y="1280160"/>
            <a:ext cx="2606040" cy="18288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3246120" y="1280160"/>
            <a:ext cx="54864" cy="1828800"/>
          </a:xfrm>
          <a:prstGeom prst="rect">
            <a:avLst/>
          </a:prstGeom>
          <a:solidFill>
            <a:srgbClr val="D4782F"/>
          </a:solidFill>
          <a:ln/>
        </p:spPr>
        <p:txBody>
          <a:bodyPr/>
          <a:lstStyle/>
          <a:p>
            <a:endParaRPr lang="en-US"/>
          </a:p>
        </p:txBody>
      </p:sp>
      <p:sp>
        <p:nvSpPr>
          <p:cNvPr id="15" name="Text 13"/>
          <p:cNvSpPr/>
          <p:nvPr/>
        </p:nvSpPr>
        <p:spPr>
          <a:xfrm>
            <a:off x="3429000" y="1325880"/>
            <a:ext cx="365760" cy="320040"/>
          </a:xfrm>
          <a:prstGeom prst="rect">
            <a:avLst/>
          </a:prstGeom>
          <a:noFill/>
          <a:ln/>
        </p:spPr>
        <p:txBody>
          <a:bodyPr wrap="square" lIns="0" tIns="0" rIns="0" bIns="0" rtlCol="0" anchor="ctr"/>
          <a:lstStyle/>
          <a:p>
            <a:pPr marL="0" indent="0">
              <a:buNone/>
            </a:pPr>
            <a:r>
              <a:rPr lang="en-US" sz="2200" b="1" dirty="0">
                <a:solidFill>
                  <a:srgbClr val="D4782F"/>
                </a:solidFill>
                <a:latin typeface="Georgia" pitchFamily="34" charset="0"/>
                <a:ea typeface="Georgia" pitchFamily="34" charset="-122"/>
                <a:cs typeface="Georgia" pitchFamily="34" charset="-120"/>
              </a:rPr>
              <a:t>2</a:t>
            </a:r>
            <a:endParaRPr lang="en-US" sz="2200" dirty="0"/>
          </a:p>
        </p:txBody>
      </p:sp>
      <p:sp>
        <p:nvSpPr>
          <p:cNvPr id="16" name="Text 14"/>
          <p:cNvSpPr/>
          <p:nvPr/>
        </p:nvSpPr>
        <p:spPr>
          <a:xfrm>
            <a:off x="3794760" y="1353312"/>
            <a:ext cx="1920240" cy="274320"/>
          </a:xfrm>
          <a:prstGeom prst="rect">
            <a:avLst/>
          </a:prstGeom>
          <a:noFill/>
          <a:ln/>
        </p:spPr>
        <p:txBody>
          <a:bodyPr wrap="square" lIns="0" tIns="0" rIns="0" bIns="0" rtlCol="0" anchor="ctr"/>
          <a:lstStyle/>
          <a:p>
            <a:pPr marL="0" indent="0">
              <a:buNone/>
            </a:pPr>
            <a:r>
              <a:rPr lang="en-US" sz="1100" b="1" kern="0" spc="100" dirty="0">
                <a:solidFill>
                  <a:srgbClr val="D4782F"/>
                </a:solidFill>
                <a:latin typeface="Calibri" pitchFamily="34" charset="0"/>
                <a:ea typeface="Calibri" pitchFamily="34" charset="-122"/>
                <a:cs typeface="Calibri" pitchFamily="34" charset="-120"/>
              </a:rPr>
              <a:t>TEST IT 18 TIMES</a:t>
            </a:r>
            <a:endParaRPr lang="en-US" sz="1100" dirty="0"/>
          </a:p>
        </p:txBody>
      </p:sp>
      <p:sp>
        <p:nvSpPr>
          <p:cNvPr id="17" name="Text 15"/>
          <p:cNvSpPr/>
          <p:nvPr/>
        </p:nvSpPr>
        <p:spPr>
          <a:xfrm>
            <a:off x="3429000" y="1783080"/>
            <a:ext cx="2286000" cy="640080"/>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Train on 17 years, predict the 1 year left out. Repeat for every year.</a:t>
            </a:r>
            <a:endParaRPr lang="en-US" sz="1100" dirty="0"/>
          </a:p>
        </p:txBody>
      </p:sp>
      <p:sp>
        <p:nvSpPr>
          <p:cNvPr id="18" name="Text 16"/>
          <p:cNvSpPr/>
          <p:nvPr/>
        </p:nvSpPr>
        <p:spPr>
          <a:xfrm>
            <a:off x="3429000" y="2377440"/>
            <a:ext cx="2286000" cy="457200"/>
          </a:xfrm>
          <a:prstGeom prst="rect">
            <a:avLst/>
          </a:prstGeom>
          <a:noFill/>
          <a:ln/>
        </p:spPr>
        <p:txBody>
          <a:bodyPr wrap="square" lIns="0" tIns="0" rIns="0" bIns="0" rtlCol="0" anchor="ctr"/>
          <a:lstStyle/>
          <a:p>
            <a:pPr marL="0" indent="0">
              <a:lnSpc>
                <a:spcPct val="130000"/>
              </a:lnSpc>
              <a:buNone/>
            </a:pPr>
            <a:r>
              <a:rPr lang="en-US" sz="1100" b="1" dirty="0">
                <a:solidFill>
                  <a:srgbClr val="0F1B33"/>
                </a:solidFill>
                <a:latin typeface="Calibri" pitchFamily="34" charset="0"/>
                <a:ea typeface="Calibri" pitchFamily="34" charset="-122"/>
                <a:cs typeface="Calibri" pitchFamily="34" charset="-120"/>
              </a:rPr>
              <a:t>18 separate models → 18 scores → average = our final score.</a:t>
            </a:r>
            <a:endParaRPr lang="en-US" sz="1100" dirty="0"/>
          </a:p>
        </p:txBody>
      </p:sp>
      <p:sp>
        <p:nvSpPr>
          <p:cNvPr id="19" name="Shape 17"/>
          <p:cNvSpPr/>
          <p:nvPr/>
        </p:nvSpPr>
        <p:spPr>
          <a:xfrm>
            <a:off x="6126480" y="1280160"/>
            <a:ext cx="2606040" cy="18288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0" name="Shape 18"/>
          <p:cNvSpPr/>
          <p:nvPr/>
        </p:nvSpPr>
        <p:spPr>
          <a:xfrm>
            <a:off x="6126480" y="1280160"/>
            <a:ext cx="54864" cy="1828800"/>
          </a:xfrm>
          <a:prstGeom prst="rect">
            <a:avLst/>
          </a:prstGeom>
          <a:solidFill>
            <a:srgbClr val="1D8348"/>
          </a:solidFill>
          <a:ln/>
        </p:spPr>
        <p:txBody>
          <a:bodyPr/>
          <a:lstStyle/>
          <a:p>
            <a:endParaRPr lang="en-US"/>
          </a:p>
        </p:txBody>
      </p:sp>
      <p:sp>
        <p:nvSpPr>
          <p:cNvPr id="21" name="Text 19"/>
          <p:cNvSpPr/>
          <p:nvPr/>
        </p:nvSpPr>
        <p:spPr>
          <a:xfrm>
            <a:off x="6309360" y="1325880"/>
            <a:ext cx="365760" cy="320040"/>
          </a:xfrm>
          <a:prstGeom prst="rect">
            <a:avLst/>
          </a:prstGeom>
          <a:noFill/>
          <a:ln/>
        </p:spPr>
        <p:txBody>
          <a:bodyPr wrap="square" lIns="0" tIns="0" rIns="0" bIns="0" rtlCol="0" anchor="ctr"/>
          <a:lstStyle/>
          <a:p>
            <a:pPr marL="0" indent="0">
              <a:buNone/>
            </a:pPr>
            <a:r>
              <a:rPr lang="en-US" sz="2200" b="1" dirty="0">
                <a:solidFill>
                  <a:srgbClr val="1D8348"/>
                </a:solidFill>
                <a:latin typeface="Georgia" pitchFamily="34" charset="0"/>
                <a:ea typeface="Georgia" pitchFamily="34" charset="-122"/>
                <a:cs typeface="Georgia" pitchFamily="34" charset="-120"/>
              </a:rPr>
              <a:t>3</a:t>
            </a:r>
            <a:endParaRPr lang="en-US" sz="2200" dirty="0"/>
          </a:p>
        </p:txBody>
      </p:sp>
      <p:sp>
        <p:nvSpPr>
          <p:cNvPr id="22" name="Text 20"/>
          <p:cNvSpPr/>
          <p:nvPr/>
        </p:nvSpPr>
        <p:spPr>
          <a:xfrm>
            <a:off x="6675120" y="1353312"/>
            <a:ext cx="1920240" cy="274320"/>
          </a:xfrm>
          <a:prstGeom prst="rect">
            <a:avLst/>
          </a:prstGeom>
          <a:noFill/>
          <a:ln/>
        </p:spPr>
        <p:txBody>
          <a:bodyPr wrap="square" lIns="0" tIns="0" rIns="0" bIns="0" rtlCol="0" anchor="ctr"/>
          <a:lstStyle/>
          <a:p>
            <a:pPr marL="0" indent="0">
              <a:buNone/>
            </a:pPr>
            <a:r>
              <a:rPr lang="en-US" sz="1100" b="1" kern="0" spc="100" dirty="0">
                <a:solidFill>
                  <a:srgbClr val="1D8348"/>
                </a:solidFill>
                <a:latin typeface="Calibri" pitchFamily="34" charset="0"/>
                <a:ea typeface="Calibri" pitchFamily="34" charset="-122"/>
                <a:cs typeface="Calibri" pitchFamily="34" charset="-120"/>
              </a:rPr>
              <a:t>PREDICT 2026</a:t>
            </a:r>
            <a:endParaRPr lang="en-US" sz="1100" dirty="0"/>
          </a:p>
        </p:txBody>
      </p:sp>
      <p:sp>
        <p:nvSpPr>
          <p:cNvPr id="23" name="Text 21"/>
          <p:cNvSpPr/>
          <p:nvPr/>
        </p:nvSpPr>
        <p:spPr>
          <a:xfrm>
            <a:off x="6309360" y="1783080"/>
            <a:ext cx="2286000" cy="640080"/>
          </a:xfrm>
          <a:prstGeom prst="rect">
            <a:avLst/>
          </a:prstGeom>
          <a:noFill/>
          <a:ln/>
        </p:spPr>
        <p:txBody>
          <a:bodyPr wrap="square" lIns="0" tIns="0" rIns="0" bIns="0" rtlCol="0" anchor="ctr"/>
          <a:lstStyle/>
          <a:p>
            <a:pPr marL="0" indent="0">
              <a:lnSpc>
                <a:spcPct val="130000"/>
              </a:lnSpc>
              <a:buNone/>
            </a:pPr>
            <a:r>
              <a:rPr lang="en-US" sz="1100" dirty="0">
                <a:solidFill>
                  <a:srgbClr val="555555"/>
                </a:solidFill>
                <a:latin typeface="Calibri" pitchFamily="34" charset="0"/>
                <a:ea typeface="Calibri" pitchFamily="34" charset="-122"/>
                <a:cs typeface="Calibri" pitchFamily="34" charset="-120"/>
              </a:rPr>
              <a:t>Train a final model on all 1,152 rows. Feed in 2026 regular-season stats.</a:t>
            </a:r>
            <a:endParaRPr lang="en-US" sz="1100" dirty="0"/>
          </a:p>
        </p:txBody>
      </p:sp>
      <p:sp>
        <p:nvSpPr>
          <p:cNvPr id="24" name="Text 22"/>
          <p:cNvSpPr/>
          <p:nvPr/>
        </p:nvSpPr>
        <p:spPr>
          <a:xfrm>
            <a:off x="6309360" y="2377440"/>
            <a:ext cx="2286000" cy="457200"/>
          </a:xfrm>
          <a:prstGeom prst="rect">
            <a:avLst/>
          </a:prstGeom>
          <a:noFill/>
          <a:ln/>
        </p:spPr>
        <p:txBody>
          <a:bodyPr wrap="square" lIns="0" tIns="0" rIns="0" bIns="0" rtlCol="0" anchor="ctr"/>
          <a:lstStyle/>
          <a:p>
            <a:pPr marL="0" indent="0">
              <a:lnSpc>
                <a:spcPct val="130000"/>
              </a:lnSpc>
              <a:buNone/>
            </a:pPr>
            <a:r>
              <a:rPr lang="en-US" sz="1100" b="1" dirty="0">
                <a:solidFill>
                  <a:srgbClr val="0F1B33"/>
                </a:solidFill>
                <a:latin typeface="Calibri" pitchFamily="34" charset="0"/>
                <a:ea typeface="Calibri" pitchFamily="34" charset="-122"/>
                <a:cs typeface="Calibri" pitchFamily="34" charset="-120"/>
              </a:rPr>
              <a:t>Every input exists before the tournament starts.</a:t>
            </a:r>
            <a:endParaRPr lang="en-US" sz="1100" dirty="0"/>
          </a:p>
        </p:txBody>
      </p:sp>
      <p:sp>
        <p:nvSpPr>
          <p:cNvPr id="25" name="Shape 23"/>
          <p:cNvSpPr/>
          <p:nvPr/>
        </p:nvSpPr>
        <p:spPr>
          <a:xfrm>
            <a:off x="365760" y="3337560"/>
            <a:ext cx="8412480" cy="11430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26" name="Text 24"/>
          <p:cNvSpPr/>
          <p:nvPr/>
        </p:nvSpPr>
        <p:spPr>
          <a:xfrm>
            <a:off x="594360" y="3429000"/>
            <a:ext cx="7955280" cy="914400"/>
          </a:xfrm>
          <a:prstGeom prst="rect">
            <a:avLst/>
          </a:prstGeom>
          <a:noFill/>
          <a:ln/>
        </p:spPr>
        <p:txBody>
          <a:bodyPr wrap="square" lIns="0" tIns="0" rIns="0" bIns="0" rtlCol="0" anchor="ctr"/>
          <a:lstStyle/>
          <a:p>
            <a:pPr marL="0" indent="0">
              <a:lnSpc>
                <a:spcPct val="130000"/>
              </a:lnSpc>
              <a:buNone/>
            </a:pPr>
            <a:r>
              <a:rPr lang="en-US" sz="1400" b="1" dirty="0">
                <a:solidFill>
                  <a:srgbClr val="0F1B33"/>
                </a:solidFill>
                <a:latin typeface="Georgia" pitchFamily="34" charset="0"/>
                <a:ea typeface="Georgia" pitchFamily="34" charset="-122"/>
                <a:cs typeface="Georgia" pitchFamily="34" charset="-120"/>
              </a:rPr>
              <a:t>Model performance: </a:t>
            </a:r>
            <a:r>
              <a:rPr lang="en-US" sz="1400" b="1" dirty="0">
                <a:solidFill>
                  <a:srgbClr val="D4782F"/>
                </a:solidFill>
                <a:latin typeface="Calibri" pitchFamily="34" charset="0"/>
                <a:ea typeface="Calibri" pitchFamily="34" charset="-122"/>
                <a:cs typeface="Calibri" pitchFamily="34" charset="-120"/>
              </a:rPr>
              <a:t>Mean Absolute Error = 0.75 wins. </a:t>
            </a:r>
            <a:r>
              <a:rPr lang="en-US" sz="1200" dirty="0">
                <a:solidFill>
                  <a:srgbClr val="555555"/>
                </a:solidFill>
                <a:latin typeface="Calibri" pitchFamily="34" charset="0"/>
                <a:ea typeface="Calibri" pitchFamily="34" charset="-122"/>
                <a:cs typeface="Calibri" pitchFamily="34" charset="-120"/>
              </a:rPr>
              <a:t>On average, our prediction is off by less than one tournament round per team. We tested this across 18 separate hold-out years — the score is not a fluke, it’s the average of 18 independent tests.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37160"/>
            <a:ext cx="8229600" cy="457200"/>
          </a:xfrm>
          <a:prstGeom prst="rect">
            <a:avLst/>
          </a:prstGeom>
          <a:noFill/>
          <a:ln/>
        </p:spPr>
        <p:txBody>
          <a:bodyPr wrap="square" lIns="0" tIns="0" rIns="0" bIns="0" rtlCol="0" anchor="ctr"/>
          <a:lstStyle/>
          <a:p>
            <a:pPr marL="0" indent="0">
              <a:buNone/>
            </a:pPr>
            <a:r>
              <a:rPr lang="en-US" sz="2800" b="1" dirty="0">
                <a:solidFill>
                  <a:srgbClr val="0F1B33"/>
                </a:solidFill>
                <a:latin typeface="Georgia" pitchFamily="34" charset="0"/>
                <a:ea typeface="Georgia" pitchFamily="34" charset="-122"/>
                <a:cs typeface="Georgia" pitchFamily="34" charset="-120"/>
              </a:rPr>
              <a:t>2026 predictions </a:t>
            </a:r>
            <a:endParaRPr lang="en-US" sz="2800" dirty="0"/>
          </a:p>
        </p:txBody>
      </p:sp>
      <p:sp>
        <p:nvSpPr>
          <p:cNvPr id="3" name="Text 1"/>
          <p:cNvSpPr/>
          <p:nvPr/>
        </p:nvSpPr>
        <p:spPr>
          <a:xfrm>
            <a:off x="548640" y="548640"/>
            <a:ext cx="82296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Predictions based on regular-season stats only</a:t>
            </a:r>
            <a:endParaRPr lang="en-US" sz="12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182880" y="868680"/>
            <a:ext cx="8778240" cy="379476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pic>
        <p:nvPicPr>
          <p:cNvPr id="8" name="Image 0" descr="/home/claude/live16_chart.png"/>
          <p:cNvPicPr>
            <a:picLocks noChangeAspect="1"/>
          </p:cNvPicPr>
          <p:nvPr/>
        </p:nvPicPr>
        <p:blipFill>
          <a:blip r:embed="rId3"/>
          <a:stretch>
            <a:fillRect/>
          </a:stretch>
        </p:blipFill>
        <p:spPr>
          <a:xfrm>
            <a:off x="320040" y="914400"/>
            <a:ext cx="850392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A623"/>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2026 Final Four prediction</a:t>
            </a:r>
            <a:endParaRPr lang="en-US" sz="3200" dirty="0"/>
          </a:p>
        </p:txBody>
      </p:sp>
      <p:sp>
        <p:nvSpPr>
          <p:cNvPr id="4" name="Text 2"/>
          <p:cNvSpPr/>
          <p:nvPr/>
        </p:nvSpPr>
        <p:spPr>
          <a:xfrm>
            <a:off x="463731" y="789650"/>
            <a:ext cx="8229600" cy="274320"/>
          </a:xfrm>
          <a:prstGeom prst="rect">
            <a:avLst/>
          </a:prstGeom>
          <a:noFill/>
          <a:ln/>
        </p:spPr>
        <p:txBody>
          <a:bodyPr wrap="square" lIns="0" tIns="0" rIns="0" bIns="0" rtlCol="0" anchor="ctr"/>
          <a:lstStyle/>
          <a:p>
            <a:pPr marL="0" indent="0">
              <a:buNone/>
            </a:pPr>
            <a:r>
              <a:rPr lang="en-US" sz="1300" dirty="0">
                <a:solidFill>
                  <a:srgbClr val="8899AA"/>
                </a:solidFill>
                <a:latin typeface="Calibri" pitchFamily="34" charset="0"/>
                <a:ea typeface="Calibri" pitchFamily="34" charset="-122"/>
                <a:cs typeface="Calibri" pitchFamily="34" charset="-120"/>
              </a:rPr>
              <a:t>Based on pre-tournament data only</a:t>
            </a:r>
            <a:endParaRPr lang="en-US" sz="1300" dirty="0"/>
          </a:p>
        </p:txBody>
      </p:sp>
      <p:sp>
        <p:nvSpPr>
          <p:cNvPr id="5" name="Shape 3"/>
          <p:cNvSpPr/>
          <p:nvPr/>
        </p:nvSpPr>
        <p:spPr>
          <a:xfrm>
            <a:off x="0" y="4754880"/>
            <a:ext cx="9144000" cy="388620"/>
          </a:xfrm>
          <a:prstGeom prst="rect">
            <a:avLst/>
          </a:prstGeom>
          <a:solidFill>
            <a:srgbClr val="0F1B33"/>
          </a:solidFill>
          <a:ln/>
        </p:spPr>
        <p:txBody>
          <a:bodyPr/>
          <a:lstStyle/>
          <a:p>
            <a:endParaRPr lang="en-US"/>
          </a:p>
        </p:txBody>
      </p:sp>
      <p:sp>
        <p:nvSpPr>
          <p:cNvPr id="7" name="Text 5"/>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8" name="Shape 6"/>
          <p:cNvSpPr/>
          <p:nvPr/>
        </p:nvSpPr>
        <p:spPr>
          <a:xfrm>
            <a:off x="411480" y="1234440"/>
            <a:ext cx="1965960" cy="2468880"/>
          </a:xfrm>
          <a:prstGeom prst="rect">
            <a:avLst/>
          </a:prstGeom>
          <a:solidFill>
            <a:srgbClr val="D4782F"/>
          </a:solidFill>
          <a:ln/>
        </p:spPr>
        <p:txBody>
          <a:bodyPr/>
          <a:lstStyle/>
          <a:p>
            <a:endParaRPr lang="en-US"/>
          </a:p>
        </p:txBody>
      </p:sp>
      <p:sp>
        <p:nvSpPr>
          <p:cNvPr id="9" name="Shape 7"/>
          <p:cNvSpPr/>
          <p:nvPr/>
        </p:nvSpPr>
        <p:spPr>
          <a:xfrm>
            <a:off x="411480" y="1234440"/>
            <a:ext cx="1965960" cy="54864"/>
          </a:xfrm>
          <a:prstGeom prst="rect">
            <a:avLst/>
          </a:prstGeom>
          <a:solidFill>
            <a:srgbClr val="F5A623"/>
          </a:solidFill>
          <a:ln/>
        </p:spPr>
        <p:txBody>
          <a:bodyPr/>
          <a:lstStyle/>
          <a:p>
            <a:endParaRPr lang="en-US"/>
          </a:p>
        </p:txBody>
      </p:sp>
      <p:sp>
        <p:nvSpPr>
          <p:cNvPr id="10" name="Text 8"/>
          <p:cNvSpPr/>
          <p:nvPr/>
        </p:nvSpPr>
        <p:spPr>
          <a:xfrm>
            <a:off x="411480" y="1371600"/>
            <a:ext cx="1965960" cy="32004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411480" y="1691640"/>
            <a:ext cx="1965960" cy="411480"/>
          </a:xfrm>
          <a:prstGeom prst="rect">
            <a:avLst/>
          </a:prstGeom>
          <a:noFill/>
          <a:ln/>
        </p:spPr>
        <p:txBody>
          <a:bodyPr wrap="square" rtlCol="0" anchor="ctr"/>
          <a:lstStyle/>
          <a:p>
            <a:pPr marL="0" indent="0" algn="ctr">
              <a:buNone/>
            </a:pPr>
            <a:r>
              <a:rPr lang="en-US" sz="1800" b="1" kern="0" spc="200" dirty="0">
                <a:solidFill>
                  <a:srgbClr val="FFFFFF"/>
                </a:solidFill>
                <a:latin typeface="Georgia" pitchFamily="34" charset="0"/>
                <a:ea typeface="Georgia" pitchFamily="34" charset="-122"/>
                <a:cs typeface="Georgia" pitchFamily="34" charset="-120"/>
              </a:rPr>
              <a:t>MICHIGAN</a:t>
            </a:r>
            <a:endParaRPr lang="en-US" sz="1800" dirty="0"/>
          </a:p>
        </p:txBody>
      </p:sp>
      <p:sp>
        <p:nvSpPr>
          <p:cNvPr id="12" name="Text 10"/>
          <p:cNvSpPr/>
          <p:nvPr/>
        </p:nvSpPr>
        <p:spPr>
          <a:xfrm>
            <a:off x="411480" y="2103120"/>
            <a:ext cx="1965960" cy="27432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#1 Seed  •  Big Ten</a:t>
            </a:r>
            <a:endParaRPr lang="en-US" sz="1100" dirty="0"/>
          </a:p>
        </p:txBody>
      </p:sp>
      <p:sp>
        <p:nvSpPr>
          <p:cNvPr id="13" name="Text 11"/>
          <p:cNvSpPr/>
          <p:nvPr/>
        </p:nvSpPr>
        <p:spPr>
          <a:xfrm>
            <a:off x="411480" y="2331720"/>
            <a:ext cx="1965960" cy="228600"/>
          </a:xfrm>
          <a:prstGeom prst="rect">
            <a:avLst/>
          </a:prstGeom>
          <a:noFill/>
          <a:ln/>
        </p:spPr>
        <p:txBody>
          <a:bodyPr wrap="square"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East Region</a:t>
            </a:r>
            <a:endParaRPr lang="en-US" sz="1000" dirty="0">
              <a:solidFill>
                <a:schemeClr val="bg1"/>
              </a:solidFill>
            </a:endParaRPr>
          </a:p>
        </p:txBody>
      </p:sp>
      <p:sp>
        <p:nvSpPr>
          <p:cNvPr id="14" name="Shape 12"/>
          <p:cNvSpPr/>
          <p:nvPr/>
        </p:nvSpPr>
        <p:spPr>
          <a:xfrm>
            <a:off x="777240" y="2697480"/>
            <a:ext cx="1234440" cy="0"/>
          </a:xfrm>
          <a:prstGeom prst="line">
            <a:avLst/>
          </a:prstGeom>
          <a:noFill/>
          <a:ln w="6350">
            <a:solidFill>
              <a:srgbClr val="3A5070"/>
            </a:solidFill>
            <a:prstDash val="solid"/>
          </a:ln>
        </p:spPr>
        <p:txBody>
          <a:bodyPr/>
          <a:lstStyle/>
          <a:p>
            <a:endParaRPr lang="en-US"/>
          </a:p>
        </p:txBody>
      </p:sp>
      <p:sp>
        <p:nvSpPr>
          <p:cNvPr id="15" name="Text 13"/>
          <p:cNvSpPr/>
          <p:nvPr/>
        </p:nvSpPr>
        <p:spPr>
          <a:xfrm>
            <a:off x="411480" y="2834640"/>
            <a:ext cx="1965960" cy="411480"/>
          </a:xfrm>
          <a:prstGeom prst="rect">
            <a:avLst/>
          </a:prstGeom>
          <a:noFill/>
          <a:ln/>
        </p:spPr>
        <p:txBody>
          <a:bodyPr wrap="square" rtlCol="0" anchor="ctr"/>
          <a:lstStyle/>
          <a:p>
            <a:pPr marL="0" indent="0" algn="ctr">
              <a:buNone/>
            </a:pPr>
            <a:r>
              <a:rPr lang="en-US" sz="2800" b="1" dirty="0">
                <a:solidFill>
                  <a:srgbClr val="C00000"/>
                </a:solidFill>
                <a:latin typeface="Georgia" pitchFamily="34" charset="0"/>
                <a:ea typeface="Georgia" pitchFamily="34" charset="-122"/>
                <a:cs typeface="Georgia" pitchFamily="34" charset="-120"/>
              </a:rPr>
              <a:t>5.29</a:t>
            </a:r>
            <a:endParaRPr lang="en-US" sz="2800" dirty="0">
              <a:solidFill>
                <a:srgbClr val="C00000"/>
              </a:solidFill>
            </a:endParaRPr>
          </a:p>
        </p:txBody>
      </p:sp>
      <p:sp>
        <p:nvSpPr>
          <p:cNvPr id="16" name="Text 14"/>
          <p:cNvSpPr/>
          <p:nvPr/>
        </p:nvSpPr>
        <p:spPr>
          <a:xfrm>
            <a:off x="411480" y="3200400"/>
            <a:ext cx="1965960" cy="228600"/>
          </a:xfrm>
          <a:prstGeom prst="rect">
            <a:avLst/>
          </a:prstGeom>
          <a:noFill/>
          <a:ln/>
        </p:spPr>
        <p:txBody>
          <a:bodyPr wrap="square" rtlCol="0" anchor="ctr"/>
          <a:lstStyle/>
          <a:p>
            <a:pPr marL="0" indent="0" algn="ctr">
              <a:buNone/>
            </a:pPr>
            <a:r>
              <a:rPr lang="en-US" sz="900" dirty="0">
                <a:solidFill>
                  <a:schemeClr val="bg1"/>
                </a:solidFill>
                <a:latin typeface="Calibri" pitchFamily="34" charset="0"/>
                <a:ea typeface="Calibri" pitchFamily="34" charset="-122"/>
                <a:cs typeface="Calibri" pitchFamily="34" charset="-120"/>
              </a:rPr>
              <a:t>predicted wins</a:t>
            </a:r>
            <a:endParaRPr lang="en-US" sz="900" dirty="0">
              <a:solidFill>
                <a:schemeClr val="bg1"/>
              </a:solidFill>
            </a:endParaRPr>
          </a:p>
        </p:txBody>
      </p:sp>
      <p:sp>
        <p:nvSpPr>
          <p:cNvPr id="17" name="Shape 15"/>
          <p:cNvSpPr/>
          <p:nvPr/>
        </p:nvSpPr>
        <p:spPr>
          <a:xfrm>
            <a:off x="2560320" y="1234440"/>
            <a:ext cx="1965960" cy="2468880"/>
          </a:xfrm>
          <a:prstGeom prst="rect">
            <a:avLst/>
          </a:prstGeom>
          <a:solidFill>
            <a:srgbClr val="1B3A5C"/>
          </a:solidFill>
          <a:ln/>
        </p:spPr>
        <p:txBody>
          <a:bodyPr/>
          <a:lstStyle/>
          <a:p>
            <a:endParaRPr lang="en-US"/>
          </a:p>
        </p:txBody>
      </p:sp>
      <p:sp>
        <p:nvSpPr>
          <p:cNvPr id="18" name="Shape 16"/>
          <p:cNvSpPr/>
          <p:nvPr/>
        </p:nvSpPr>
        <p:spPr>
          <a:xfrm>
            <a:off x="2560320" y="1234440"/>
            <a:ext cx="1965960" cy="54864"/>
          </a:xfrm>
          <a:prstGeom prst="rect">
            <a:avLst/>
          </a:prstGeom>
          <a:solidFill>
            <a:srgbClr val="3A5070"/>
          </a:solidFill>
          <a:ln/>
        </p:spPr>
        <p:txBody>
          <a:bodyPr/>
          <a:lstStyle/>
          <a:p>
            <a:endParaRPr lang="en-US"/>
          </a:p>
        </p:txBody>
      </p:sp>
      <p:sp>
        <p:nvSpPr>
          <p:cNvPr id="19" name="Text 17"/>
          <p:cNvSpPr/>
          <p:nvPr/>
        </p:nvSpPr>
        <p:spPr>
          <a:xfrm>
            <a:off x="2560320" y="1463040"/>
            <a:ext cx="1965960" cy="411480"/>
          </a:xfrm>
          <a:prstGeom prst="rect">
            <a:avLst/>
          </a:prstGeom>
          <a:noFill/>
          <a:ln/>
        </p:spPr>
        <p:txBody>
          <a:bodyPr wrap="square" rtlCol="0" anchor="ctr"/>
          <a:lstStyle/>
          <a:p>
            <a:pPr marL="0" indent="0" algn="ctr">
              <a:buNone/>
            </a:pPr>
            <a:r>
              <a:rPr lang="en-US" sz="1800" b="1" kern="0" spc="200" dirty="0">
                <a:solidFill>
                  <a:srgbClr val="FFFFFF"/>
                </a:solidFill>
                <a:latin typeface="Georgia" pitchFamily="34" charset="0"/>
                <a:ea typeface="Georgia" pitchFamily="34" charset="-122"/>
                <a:cs typeface="Georgia" pitchFamily="34" charset="-120"/>
              </a:rPr>
              <a:t>DUKE</a:t>
            </a:r>
            <a:endParaRPr lang="en-US" sz="1800" dirty="0"/>
          </a:p>
        </p:txBody>
      </p:sp>
      <p:sp>
        <p:nvSpPr>
          <p:cNvPr id="20" name="Text 18"/>
          <p:cNvSpPr/>
          <p:nvPr/>
        </p:nvSpPr>
        <p:spPr>
          <a:xfrm>
            <a:off x="2560320" y="1920240"/>
            <a:ext cx="1965960" cy="27432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#1 Seed  •  ACC</a:t>
            </a:r>
            <a:endParaRPr lang="en-US" sz="1100" dirty="0"/>
          </a:p>
        </p:txBody>
      </p:sp>
      <p:sp>
        <p:nvSpPr>
          <p:cNvPr id="21" name="Text 19"/>
          <p:cNvSpPr/>
          <p:nvPr/>
        </p:nvSpPr>
        <p:spPr>
          <a:xfrm>
            <a:off x="2560320" y="2194560"/>
            <a:ext cx="1965960" cy="228600"/>
          </a:xfrm>
          <a:prstGeom prst="rect">
            <a:avLst/>
          </a:prstGeom>
          <a:noFill/>
          <a:ln/>
        </p:spPr>
        <p:txBody>
          <a:bodyPr wrap="square" rtlCol="0" anchor="ctr"/>
          <a:lstStyle/>
          <a:p>
            <a:pPr marL="0" indent="0" algn="ctr">
              <a:buNone/>
            </a:pPr>
            <a:r>
              <a:rPr lang="en-US" sz="1000" dirty="0">
                <a:solidFill>
                  <a:srgbClr val="7A90A8"/>
                </a:solidFill>
                <a:latin typeface="Calibri" pitchFamily="34" charset="0"/>
                <a:ea typeface="Calibri" pitchFamily="34" charset="-122"/>
                <a:cs typeface="Calibri" pitchFamily="34" charset="-120"/>
              </a:rPr>
              <a:t>Midwest Region</a:t>
            </a:r>
            <a:endParaRPr lang="en-US" sz="1000" dirty="0"/>
          </a:p>
        </p:txBody>
      </p:sp>
      <p:sp>
        <p:nvSpPr>
          <p:cNvPr id="22" name="Shape 20"/>
          <p:cNvSpPr/>
          <p:nvPr/>
        </p:nvSpPr>
        <p:spPr>
          <a:xfrm>
            <a:off x="2926080" y="2560320"/>
            <a:ext cx="1234440" cy="0"/>
          </a:xfrm>
          <a:prstGeom prst="line">
            <a:avLst/>
          </a:prstGeom>
          <a:noFill/>
          <a:ln w="6350">
            <a:solidFill>
              <a:srgbClr val="3A5070"/>
            </a:solidFill>
            <a:prstDash val="solid"/>
          </a:ln>
        </p:spPr>
        <p:txBody>
          <a:bodyPr/>
          <a:lstStyle/>
          <a:p>
            <a:endParaRPr lang="en-US"/>
          </a:p>
        </p:txBody>
      </p:sp>
      <p:sp>
        <p:nvSpPr>
          <p:cNvPr id="23" name="Text 21"/>
          <p:cNvSpPr/>
          <p:nvPr/>
        </p:nvSpPr>
        <p:spPr>
          <a:xfrm>
            <a:off x="2560320" y="2697480"/>
            <a:ext cx="1965960" cy="411480"/>
          </a:xfrm>
          <a:prstGeom prst="rect">
            <a:avLst/>
          </a:prstGeom>
          <a:noFill/>
          <a:ln/>
        </p:spPr>
        <p:txBody>
          <a:bodyPr wrap="square" rtlCol="0" anchor="ctr"/>
          <a:lstStyle/>
          <a:p>
            <a:pPr marL="0" indent="0" algn="ctr">
              <a:buNone/>
            </a:pPr>
            <a:r>
              <a:rPr lang="en-US" sz="2800" b="1" dirty="0">
                <a:solidFill>
                  <a:srgbClr val="F5A623"/>
                </a:solidFill>
                <a:latin typeface="Georgia" pitchFamily="34" charset="0"/>
                <a:ea typeface="Georgia" pitchFamily="34" charset="-122"/>
                <a:cs typeface="Georgia" pitchFamily="34" charset="-120"/>
              </a:rPr>
              <a:t>4.91</a:t>
            </a:r>
            <a:endParaRPr lang="en-US" sz="2800" dirty="0"/>
          </a:p>
        </p:txBody>
      </p:sp>
      <p:sp>
        <p:nvSpPr>
          <p:cNvPr id="24" name="Text 22"/>
          <p:cNvSpPr/>
          <p:nvPr/>
        </p:nvSpPr>
        <p:spPr>
          <a:xfrm>
            <a:off x="2560320" y="3063240"/>
            <a:ext cx="1965960" cy="228600"/>
          </a:xfrm>
          <a:prstGeom prst="rect">
            <a:avLst/>
          </a:prstGeom>
          <a:noFill/>
          <a:ln/>
        </p:spPr>
        <p:txBody>
          <a:bodyPr wrap="square" rtlCol="0" anchor="ctr"/>
          <a:lstStyle/>
          <a:p>
            <a:pPr marL="0" indent="0" algn="ctr">
              <a:buNone/>
            </a:pPr>
            <a:r>
              <a:rPr lang="en-US" sz="900" dirty="0">
                <a:solidFill>
                  <a:srgbClr val="7A90A8"/>
                </a:solidFill>
                <a:latin typeface="Calibri" pitchFamily="34" charset="0"/>
                <a:ea typeface="Calibri" pitchFamily="34" charset="-122"/>
                <a:cs typeface="Calibri" pitchFamily="34" charset="-120"/>
              </a:rPr>
              <a:t>predicted wins</a:t>
            </a:r>
            <a:endParaRPr lang="en-US" sz="900" dirty="0"/>
          </a:p>
        </p:txBody>
      </p:sp>
      <p:sp>
        <p:nvSpPr>
          <p:cNvPr id="25" name="Shape 23"/>
          <p:cNvSpPr/>
          <p:nvPr/>
        </p:nvSpPr>
        <p:spPr>
          <a:xfrm>
            <a:off x="4709160" y="1234440"/>
            <a:ext cx="1965960" cy="2468880"/>
          </a:xfrm>
          <a:prstGeom prst="rect">
            <a:avLst/>
          </a:prstGeom>
          <a:solidFill>
            <a:srgbClr val="1B3A5C"/>
          </a:solidFill>
          <a:ln/>
        </p:spPr>
        <p:txBody>
          <a:bodyPr/>
          <a:lstStyle/>
          <a:p>
            <a:endParaRPr lang="en-US"/>
          </a:p>
        </p:txBody>
      </p:sp>
      <p:sp>
        <p:nvSpPr>
          <p:cNvPr id="26" name="Shape 24"/>
          <p:cNvSpPr/>
          <p:nvPr/>
        </p:nvSpPr>
        <p:spPr>
          <a:xfrm>
            <a:off x="4709160" y="1234440"/>
            <a:ext cx="1965960" cy="54864"/>
          </a:xfrm>
          <a:prstGeom prst="rect">
            <a:avLst/>
          </a:prstGeom>
          <a:solidFill>
            <a:srgbClr val="3A5070"/>
          </a:solidFill>
          <a:ln/>
        </p:spPr>
        <p:txBody>
          <a:bodyPr/>
          <a:lstStyle/>
          <a:p>
            <a:endParaRPr lang="en-US"/>
          </a:p>
        </p:txBody>
      </p:sp>
      <p:sp>
        <p:nvSpPr>
          <p:cNvPr id="27" name="Text 25"/>
          <p:cNvSpPr/>
          <p:nvPr/>
        </p:nvSpPr>
        <p:spPr>
          <a:xfrm>
            <a:off x="4709160" y="1463040"/>
            <a:ext cx="1965960" cy="411480"/>
          </a:xfrm>
          <a:prstGeom prst="rect">
            <a:avLst/>
          </a:prstGeom>
          <a:noFill/>
          <a:ln/>
        </p:spPr>
        <p:txBody>
          <a:bodyPr wrap="square" rtlCol="0" anchor="ctr"/>
          <a:lstStyle/>
          <a:p>
            <a:pPr algn="ctr"/>
            <a:r>
              <a:rPr lang="en-US" sz="1800" b="1" kern="0" spc="200" dirty="0">
                <a:solidFill>
                  <a:srgbClr val="FFFFFF"/>
                </a:solidFill>
                <a:latin typeface="Georgia" pitchFamily="34" charset="0"/>
                <a:ea typeface="Georgia" pitchFamily="34" charset="-122"/>
                <a:cs typeface="Georgia" pitchFamily="34" charset="-120"/>
              </a:rPr>
              <a:t>ILLINOIS</a:t>
            </a:r>
            <a:endParaRPr lang="en-US" sz="1800" dirty="0"/>
          </a:p>
        </p:txBody>
      </p:sp>
      <p:sp>
        <p:nvSpPr>
          <p:cNvPr id="28" name="Text 26"/>
          <p:cNvSpPr/>
          <p:nvPr/>
        </p:nvSpPr>
        <p:spPr>
          <a:xfrm>
            <a:off x="4709160" y="1920240"/>
            <a:ext cx="1965960" cy="27432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#3 Seed  •  Big 10</a:t>
            </a:r>
            <a:endParaRPr lang="en-US" sz="1100" dirty="0"/>
          </a:p>
        </p:txBody>
      </p:sp>
      <p:sp>
        <p:nvSpPr>
          <p:cNvPr id="29" name="Text 27"/>
          <p:cNvSpPr/>
          <p:nvPr/>
        </p:nvSpPr>
        <p:spPr>
          <a:xfrm>
            <a:off x="4709160" y="2194560"/>
            <a:ext cx="1965960" cy="228600"/>
          </a:xfrm>
          <a:prstGeom prst="rect">
            <a:avLst/>
          </a:prstGeom>
          <a:noFill/>
          <a:ln/>
        </p:spPr>
        <p:txBody>
          <a:bodyPr wrap="square" rtlCol="0" anchor="ctr"/>
          <a:lstStyle/>
          <a:p>
            <a:pPr marL="0" indent="0" algn="ctr">
              <a:buNone/>
            </a:pPr>
            <a:r>
              <a:rPr lang="en-US" sz="1000" dirty="0">
                <a:solidFill>
                  <a:srgbClr val="7A90A8"/>
                </a:solidFill>
                <a:latin typeface="Calibri" pitchFamily="34" charset="0"/>
                <a:ea typeface="Calibri" pitchFamily="34" charset="-122"/>
                <a:cs typeface="Calibri" pitchFamily="34" charset="-120"/>
              </a:rPr>
              <a:t>South Region</a:t>
            </a:r>
            <a:endParaRPr lang="en-US" sz="1000" dirty="0"/>
          </a:p>
        </p:txBody>
      </p:sp>
      <p:sp>
        <p:nvSpPr>
          <p:cNvPr id="30" name="Shape 28"/>
          <p:cNvSpPr/>
          <p:nvPr/>
        </p:nvSpPr>
        <p:spPr>
          <a:xfrm>
            <a:off x="5074920" y="2560320"/>
            <a:ext cx="1234440" cy="0"/>
          </a:xfrm>
          <a:prstGeom prst="line">
            <a:avLst/>
          </a:prstGeom>
          <a:noFill/>
          <a:ln w="6350">
            <a:solidFill>
              <a:srgbClr val="3A5070"/>
            </a:solidFill>
            <a:prstDash val="solid"/>
          </a:ln>
        </p:spPr>
        <p:txBody>
          <a:bodyPr/>
          <a:lstStyle/>
          <a:p>
            <a:endParaRPr lang="en-US"/>
          </a:p>
        </p:txBody>
      </p:sp>
      <p:sp>
        <p:nvSpPr>
          <p:cNvPr id="31" name="Text 29"/>
          <p:cNvSpPr/>
          <p:nvPr/>
        </p:nvSpPr>
        <p:spPr>
          <a:xfrm>
            <a:off x="4709160" y="2697480"/>
            <a:ext cx="1965960" cy="411480"/>
          </a:xfrm>
          <a:prstGeom prst="rect">
            <a:avLst/>
          </a:prstGeom>
          <a:noFill/>
          <a:ln/>
        </p:spPr>
        <p:txBody>
          <a:bodyPr wrap="square" rtlCol="0" anchor="ctr"/>
          <a:lstStyle/>
          <a:p>
            <a:pPr marL="0" indent="0" algn="ctr">
              <a:buNone/>
            </a:pPr>
            <a:r>
              <a:rPr lang="en-US" sz="2800" b="1" dirty="0">
                <a:solidFill>
                  <a:srgbClr val="F5A623"/>
                </a:solidFill>
                <a:latin typeface="Georgia" pitchFamily="34" charset="0"/>
                <a:ea typeface="Georgia" pitchFamily="34" charset="-122"/>
                <a:cs typeface="Georgia" pitchFamily="34" charset="-120"/>
              </a:rPr>
              <a:t>4.41</a:t>
            </a:r>
            <a:endParaRPr lang="en-US" sz="2800" dirty="0"/>
          </a:p>
        </p:txBody>
      </p:sp>
      <p:sp>
        <p:nvSpPr>
          <p:cNvPr id="32" name="Text 30"/>
          <p:cNvSpPr/>
          <p:nvPr/>
        </p:nvSpPr>
        <p:spPr>
          <a:xfrm>
            <a:off x="4709160" y="3063240"/>
            <a:ext cx="1965960" cy="228600"/>
          </a:xfrm>
          <a:prstGeom prst="rect">
            <a:avLst/>
          </a:prstGeom>
          <a:noFill/>
          <a:ln/>
        </p:spPr>
        <p:txBody>
          <a:bodyPr wrap="square" rtlCol="0" anchor="ctr"/>
          <a:lstStyle/>
          <a:p>
            <a:pPr marL="0" indent="0" algn="ctr">
              <a:buNone/>
            </a:pPr>
            <a:r>
              <a:rPr lang="en-US" sz="900" dirty="0">
                <a:solidFill>
                  <a:srgbClr val="7A90A8"/>
                </a:solidFill>
                <a:latin typeface="Calibri" pitchFamily="34" charset="0"/>
                <a:ea typeface="Calibri" pitchFamily="34" charset="-122"/>
                <a:cs typeface="Calibri" pitchFamily="34" charset="-120"/>
              </a:rPr>
              <a:t>predicted wins</a:t>
            </a:r>
            <a:endParaRPr lang="en-US" sz="900" dirty="0"/>
          </a:p>
        </p:txBody>
      </p:sp>
      <p:sp>
        <p:nvSpPr>
          <p:cNvPr id="33" name="Shape 31"/>
          <p:cNvSpPr/>
          <p:nvPr/>
        </p:nvSpPr>
        <p:spPr>
          <a:xfrm>
            <a:off x="6858000" y="1234440"/>
            <a:ext cx="1965960" cy="2468880"/>
          </a:xfrm>
          <a:prstGeom prst="rect">
            <a:avLst/>
          </a:prstGeom>
          <a:solidFill>
            <a:srgbClr val="1B3A5C"/>
          </a:solidFill>
          <a:ln/>
        </p:spPr>
        <p:txBody>
          <a:bodyPr/>
          <a:lstStyle/>
          <a:p>
            <a:endParaRPr lang="en-US"/>
          </a:p>
        </p:txBody>
      </p:sp>
      <p:sp>
        <p:nvSpPr>
          <p:cNvPr id="34" name="Shape 32"/>
          <p:cNvSpPr/>
          <p:nvPr/>
        </p:nvSpPr>
        <p:spPr>
          <a:xfrm>
            <a:off x="6858000" y="1234440"/>
            <a:ext cx="1965960" cy="54864"/>
          </a:xfrm>
          <a:prstGeom prst="rect">
            <a:avLst/>
          </a:prstGeom>
          <a:solidFill>
            <a:srgbClr val="3A5070"/>
          </a:solidFill>
          <a:ln/>
        </p:spPr>
        <p:txBody>
          <a:bodyPr/>
          <a:lstStyle/>
          <a:p>
            <a:endParaRPr lang="en-US"/>
          </a:p>
        </p:txBody>
      </p:sp>
      <p:sp>
        <p:nvSpPr>
          <p:cNvPr id="35" name="Text 33"/>
          <p:cNvSpPr/>
          <p:nvPr/>
        </p:nvSpPr>
        <p:spPr>
          <a:xfrm>
            <a:off x="6858000" y="1463040"/>
            <a:ext cx="1965960" cy="411480"/>
          </a:xfrm>
          <a:prstGeom prst="rect">
            <a:avLst/>
          </a:prstGeom>
          <a:noFill/>
          <a:ln/>
        </p:spPr>
        <p:txBody>
          <a:bodyPr wrap="square" rtlCol="0" anchor="ctr"/>
          <a:lstStyle/>
          <a:p>
            <a:pPr algn="ctr"/>
            <a:r>
              <a:rPr lang="en-US" sz="1800" b="1" kern="0" spc="200" dirty="0">
                <a:solidFill>
                  <a:srgbClr val="FFFFFF"/>
                </a:solidFill>
                <a:latin typeface="Georgia" pitchFamily="34" charset="0"/>
                <a:ea typeface="Georgia" pitchFamily="34" charset="-122"/>
                <a:cs typeface="Georgia" pitchFamily="34" charset="-120"/>
              </a:rPr>
              <a:t>ARIZONA</a:t>
            </a:r>
            <a:endParaRPr lang="en-US" sz="1800" dirty="0"/>
          </a:p>
        </p:txBody>
      </p:sp>
      <p:sp>
        <p:nvSpPr>
          <p:cNvPr id="36" name="Text 34"/>
          <p:cNvSpPr/>
          <p:nvPr/>
        </p:nvSpPr>
        <p:spPr>
          <a:xfrm>
            <a:off x="6858000" y="1920240"/>
            <a:ext cx="1965960" cy="27432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#1 Seed  •  Big 12</a:t>
            </a:r>
            <a:endParaRPr lang="en-US" sz="1100" dirty="0"/>
          </a:p>
        </p:txBody>
      </p:sp>
      <p:sp>
        <p:nvSpPr>
          <p:cNvPr id="37" name="Text 35"/>
          <p:cNvSpPr/>
          <p:nvPr/>
        </p:nvSpPr>
        <p:spPr>
          <a:xfrm>
            <a:off x="6858000" y="2194560"/>
            <a:ext cx="1965960" cy="228600"/>
          </a:xfrm>
          <a:prstGeom prst="rect">
            <a:avLst/>
          </a:prstGeom>
          <a:noFill/>
          <a:ln/>
        </p:spPr>
        <p:txBody>
          <a:bodyPr wrap="square" rtlCol="0" anchor="ctr"/>
          <a:lstStyle/>
          <a:p>
            <a:pPr marL="0" indent="0" algn="ctr">
              <a:buNone/>
            </a:pPr>
            <a:r>
              <a:rPr lang="en-US" sz="1000" dirty="0">
                <a:solidFill>
                  <a:srgbClr val="7A90A8"/>
                </a:solidFill>
                <a:latin typeface="Calibri" pitchFamily="34" charset="0"/>
                <a:ea typeface="Calibri" pitchFamily="34" charset="-122"/>
                <a:cs typeface="Calibri" pitchFamily="34" charset="-120"/>
              </a:rPr>
              <a:t>West Region</a:t>
            </a:r>
            <a:endParaRPr lang="en-US" sz="1000" dirty="0"/>
          </a:p>
        </p:txBody>
      </p:sp>
      <p:sp>
        <p:nvSpPr>
          <p:cNvPr id="38" name="Shape 36"/>
          <p:cNvSpPr/>
          <p:nvPr/>
        </p:nvSpPr>
        <p:spPr>
          <a:xfrm>
            <a:off x="7223760" y="2560320"/>
            <a:ext cx="1234440" cy="0"/>
          </a:xfrm>
          <a:prstGeom prst="line">
            <a:avLst/>
          </a:prstGeom>
          <a:noFill/>
          <a:ln w="6350">
            <a:solidFill>
              <a:srgbClr val="3A5070"/>
            </a:solidFill>
            <a:prstDash val="solid"/>
          </a:ln>
        </p:spPr>
        <p:txBody>
          <a:bodyPr/>
          <a:lstStyle/>
          <a:p>
            <a:endParaRPr lang="en-US"/>
          </a:p>
        </p:txBody>
      </p:sp>
      <p:sp>
        <p:nvSpPr>
          <p:cNvPr id="39" name="Text 37"/>
          <p:cNvSpPr/>
          <p:nvPr/>
        </p:nvSpPr>
        <p:spPr>
          <a:xfrm>
            <a:off x="6858000" y="2697480"/>
            <a:ext cx="1965960" cy="411480"/>
          </a:xfrm>
          <a:prstGeom prst="rect">
            <a:avLst/>
          </a:prstGeom>
          <a:noFill/>
          <a:ln/>
        </p:spPr>
        <p:txBody>
          <a:bodyPr wrap="square" rtlCol="0" anchor="ctr"/>
          <a:lstStyle/>
          <a:p>
            <a:pPr marL="0" indent="0" algn="ctr">
              <a:buNone/>
            </a:pPr>
            <a:r>
              <a:rPr lang="en-US" sz="2800" b="1" dirty="0">
                <a:solidFill>
                  <a:srgbClr val="F5A623"/>
                </a:solidFill>
                <a:latin typeface="Georgia" pitchFamily="34" charset="0"/>
                <a:ea typeface="Georgia" pitchFamily="34" charset="-122"/>
                <a:cs typeface="Georgia" pitchFamily="34" charset="-120"/>
              </a:rPr>
              <a:t>4.26</a:t>
            </a:r>
            <a:endParaRPr lang="en-US" sz="2800" dirty="0"/>
          </a:p>
        </p:txBody>
      </p:sp>
      <p:sp>
        <p:nvSpPr>
          <p:cNvPr id="40" name="Text 38"/>
          <p:cNvSpPr/>
          <p:nvPr/>
        </p:nvSpPr>
        <p:spPr>
          <a:xfrm>
            <a:off x="6858000" y="3063240"/>
            <a:ext cx="1965960" cy="228600"/>
          </a:xfrm>
          <a:prstGeom prst="rect">
            <a:avLst/>
          </a:prstGeom>
          <a:noFill/>
          <a:ln/>
        </p:spPr>
        <p:txBody>
          <a:bodyPr wrap="square" rtlCol="0" anchor="ctr"/>
          <a:lstStyle/>
          <a:p>
            <a:pPr marL="0" indent="0" algn="ctr">
              <a:buNone/>
            </a:pPr>
            <a:r>
              <a:rPr lang="en-US" sz="900" dirty="0">
                <a:solidFill>
                  <a:srgbClr val="7A90A8"/>
                </a:solidFill>
                <a:latin typeface="Calibri" pitchFamily="34" charset="0"/>
                <a:ea typeface="Calibri" pitchFamily="34" charset="-122"/>
                <a:cs typeface="Calibri" pitchFamily="34" charset="-120"/>
              </a:rPr>
              <a:t>predicted wins</a:t>
            </a:r>
            <a:endParaRPr lang="en-US" sz="900" dirty="0"/>
          </a:p>
        </p:txBody>
      </p:sp>
      <p:sp>
        <p:nvSpPr>
          <p:cNvPr id="41" name="Text 39"/>
          <p:cNvSpPr/>
          <p:nvPr/>
        </p:nvSpPr>
        <p:spPr>
          <a:xfrm>
            <a:off x="457200" y="3886200"/>
            <a:ext cx="8229600" cy="320040"/>
          </a:xfrm>
          <a:prstGeom prst="rect">
            <a:avLst/>
          </a:prstGeom>
          <a:noFill/>
          <a:ln/>
        </p:spPr>
        <p:txBody>
          <a:bodyPr wrap="square" rtlCol="0" anchor="ctr"/>
          <a:lstStyle/>
          <a:p>
            <a:pPr marL="0" indent="0" algn="ctr">
              <a:buNone/>
            </a:pPr>
            <a:r>
              <a:rPr lang="en-US" sz="1500" b="1" dirty="0">
                <a:solidFill>
                  <a:srgbClr val="F5A623"/>
                </a:solidFill>
                <a:latin typeface="Calibri" pitchFamily="34" charset="0"/>
                <a:ea typeface="Calibri" pitchFamily="34" charset="-122"/>
                <a:cs typeface="Calibri" pitchFamily="34" charset="-120"/>
              </a:rPr>
              <a:t>Predicted champion: Michigan over Duke in the final</a:t>
            </a:r>
            <a:endParaRPr lang="en-US" sz="1500" dirty="0"/>
          </a:p>
        </p:txBody>
      </p:sp>
      <p:sp>
        <p:nvSpPr>
          <p:cNvPr id="42" name="Text 40"/>
          <p:cNvSpPr/>
          <p:nvPr/>
        </p:nvSpPr>
        <p:spPr>
          <a:xfrm>
            <a:off x="457200" y="4206240"/>
            <a:ext cx="8229600" cy="274320"/>
          </a:xfrm>
          <a:prstGeom prst="rect">
            <a:avLst/>
          </a:prstGeom>
          <a:noFill/>
          <a:ln/>
        </p:spPr>
        <p:txBody>
          <a:bodyPr wrap="square" rtlCol="0" anchor="ctr"/>
          <a:lstStyle/>
          <a:p>
            <a:pPr algn="ctr"/>
            <a:r>
              <a:rPr lang="en-US" sz="1200" dirty="0">
                <a:solidFill>
                  <a:srgbClr val="8899AA"/>
                </a:solidFill>
                <a:latin typeface="Calibri" pitchFamily="34" charset="0"/>
                <a:ea typeface="Calibri" pitchFamily="34" charset="-122"/>
                <a:cs typeface="Calibri" pitchFamily="34" charset="-120"/>
              </a:rPr>
              <a:t>Upset watch: #3 Illinois, #5 St. John's, #4 Alabama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3200" b="1" dirty="0">
                <a:solidFill>
                  <a:srgbClr val="0F1B33"/>
                </a:solidFill>
                <a:latin typeface="Georgia" pitchFamily="34" charset="0"/>
                <a:ea typeface="Georgia" pitchFamily="34" charset="-122"/>
                <a:cs typeface="Georgia" pitchFamily="34" charset="-120"/>
              </a:rPr>
              <a:t>A reality check</a:t>
            </a:r>
            <a:endParaRPr lang="en-US" sz="32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Why predictions and reality don’t always match</a:t>
            </a:r>
            <a:endParaRPr lang="en-US" sz="1400" dirty="0"/>
          </a:p>
        </p:txBody>
      </p:sp>
      <p:sp>
        <p:nvSpPr>
          <p:cNvPr id="4" name="Shape 2"/>
          <p:cNvSpPr/>
          <p:nvPr/>
        </p:nvSpPr>
        <p:spPr>
          <a:xfrm>
            <a:off x="0" y="4754880"/>
            <a:ext cx="9144000" cy="388620"/>
          </a:xfrm>
          <a:prstGeom prst="rect">
            <a:avLst/>
          </a:prstGeom>
          <a:solidFill>
            <a:srgbClr val="0F1B33"/>
          </a:solidFill>
          <a:ln/>
        </p:spPr>
        <p:txBody>
          <a:bodyPr/>
          <a:lstStyle/>
          <a:p>
            <a:endParaRPr lang="en-US"/>
          </a:p>
        </p:txBody>
      </p:sp>
      <p:sp>
        <p:nvSpPr>
          <p:cNvPr id="6" name="Text 4"/>
          <p:cNvSpPr/>
          <p:nvPr/>
        </p:nvSpPr>
        <p:spPr>
          <a:xfrm>
            <a:off x="365760" y="4782312"/>
            <a:ext cx="3657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March Madness Datathon 2026</a:t>
            </a:r>
            <a:endParaRPr lang="en-US" sz="1000" dirty="0"/>
          </a:p>
        </p:txBody>
      </p:sp>
      <p:sp>
        <p:nvSpPr>
          <p:cNvPr id="7" name="Shape 5"/>
          <p:cNvSpPr/>
          <p:nvPr/>
        </p:nvSpPr>
        <p:spPr>
          <a:xfrm>
            <a:off x="365760" y="1280160"/>
            <a:ext cx="4023360" cy="32004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365760" y="1280160"/>
            <a:ext cx="54864" cy="3200400"/>
          </a:xfrm>
          <a:prstGeom prst="rect">
            <a:avLst/>
          </a:prstGeom>
          <a:solidFill>
            <a:srgbClr val="D4782F"/>
          </a:solidFill>
          <a:ln/>
        </p:spPr>
        <p:txBody>
          <a:bodyPr/>
          <a:lstStyle/>
          <a:p>
            <a:endParaRPr lang="en-US"/>
          </a:p>
        </p:txBody>
      </p:sp>
      <p:sp>
        <p:nvSpPr>
          <p:cNvPr id="9" name="Text 7"/>
          <p:cNvSpPr/>
          <p:nvPr/>
        </p:nvSpPr>
        <p:spPr>
          <a:xfrm>
            <a:off x="594360" y="1371600"/>
            <a:ext cx="3657600" cy="320040"/>
          </a:xfrm>
          <a:prstGeom prst="rect">
            <a:avLst/>
          </a:prstGeom>
          <a:noFill/>
          <a:ln/>
        </p:spPr>
        <p:txBody>
          <a:bodyPr wrap="square" lIns="0" tIns="0" rIns="0" bIns="0" rtlCol="0" anchor="ctr"/>
          <a:lstStyle/>
          <a:p>
            <a:pPr marL="0" indent="0">
              <a:buNone/>
            </a:pPr>
            <a:r>
              <a:rPr lang="en-US" sz="1600" b="1" dirty="0">
                <a:solidFill>
                  <a:srgbClr val="0F1B33"/>
                </a:solidFill>
                <a:latin typeface="Georgia" pitchFamily="34" charset="0"/>
                <a:ea typeface="Georgia" pitchFamily="34" charset="-122"/>
                <a:cs typeface="Georgia" pitchFamily="34" charset="-120"/>
              </a:rPr>
              <a:t>What our model can do</a:t>
            </a:r>
            <a:endParaRPr lang="en-US" sz="1600" dirty="0"/>
          </a:p>
        </p:txBody>
      </p:sp>
      <p:sp>
        <p:nvSpPr>
          <p:cNvPr id="10" name="Text 8"/>
          <p:cNvSpPr/>
          <p:nvPr/>
        </p:nvSpPr>
        <p:spPr>
          <a:xfrm>
            <a:off x="640080" y="1874520"/>
            <a:ext cx="274320" cy="320040"/>
          </a:xfrm>
          <a:prstGeom prst="rect">
            <a:avLst/>
          </a:prstGeom>
          <a:noFill/>
          <a:ln/>
        </p:spPr>
        <p:txBody>
          <a:bodyPr wrap="square" lIns="0" tIns="0" rIns="0" bIns="0" rtlCol="0" anchor="ctr"/>
          <a:lstStyle/>
          <a:p>
            <a:pPr marL="0" indent="0" algn="ctr">
              <a:buNone/>
            </a:pPr>
            <a:r>
              <a:rPr lang="en-US" sz="1300" dirty="0">
                <a:solidFill>
                  <a:srgbClr val="1D8348"/>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914400" y="187452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Identify the strongest teams based on season-long performance</a:t>
            </a:r>
            <a:endParaRPr lang="en-US" sz="1200" dirty="0"/>
          </a:p>
        </p:txBody>
      </p:sp>
      <p:sp>
        <p:nvSpPr>
          <p:cNvPr id="12" name="Text 10"/>
          <p:cNvSpPr/>
          <p:nvPr/>
        </p:nvSpPr>
        <p:spPr>
          <a:xfrm>
            <a:off x="640080" y="2377440"/>
            <a:ext cx="274320" cy="320040"/>
          </a:xfrm>
          <a:prstGeom prst="rect">
            <a:avLst/>
          </a:prstGeom>
          <a:noFill/>
          <a:ln/>
        </p:spPr>
        <p:txBody>
          <a:bodyPr wrap="square" lIns="0" tIns="0" rIns="0" bIns="0" rtlCol="0" anchor="ctr"/>
          <a:lstStyle/>
          <a:p>
            <a:pPr marL="0" indent="0" algn="ctr">
              <a:buNone/>
            </a:pPr>
            <a:r>
              <a:rPr lang="en-US" sz="1300" dirty="0">
                <a:solidFill>
                  <a:srgbClr val="1D8348"/>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14400" y="237744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Quantify which stats matter more than others</a:t>
            </a:r>
            <a:endParaRPr lang="en-US" sz="1200" dirty="0"/>
          </a:p>
        </p:txBody>
      </p:sp>
      <p:sp>
        <p:nvSpPr>
          <p:cNvPr id="14" name="Text 12"/>
          <p:cNvSpPr/>
          <p:nvPr/>
        </p:nvSpPr>
        <p:spPr>
          <a:xfrm>
            <a:off x="640080" y="2880360"/>
            <a:ext cx="274320" cy="320040"/>
          </a:xfrm>
          <a:prstGeom prst="rect">
            <a:avLst/>
          </a:prstGeom>
          <a:noFill/>
          <a:ln/>
        </p:spPr>
        <p:txBody>
          <a:bodyPr wrap="square" lIns="0" tIns="0" rIns="0" bIns="0" rtlCol="0" anchor="ctr"/>
          <a:lstStyle/>
          <a:p>
            <a:pPr marL="0" indent="0" algn="ctr">
              <a:buNone/>
            </a:pPr>
            <a:r>
              <a:rPr lang="en-US" sz="1300" dirty="0">
                <a:solidFill>
                  <a:srgbClr val="1D8348"/>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914400" y="288036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Give us our BEST GUESS at tournament outcomes</a:t>
            </a:r>
            <a:endParaRPr lang="en-US" sz="1200" dirty="0"/>
          </a:p>
        </p:txBody>
      </p:sp>
      <p:sp>
        <p:nvSpPr>
          <p:cNvPr id="16" name="Text 14"/>
          <p:cNvSpPr/>
          <p:nvPr/>
        </p:nvSpPr>
        <p:spPr>
          <a:xfrm>
            <a:off x="640080" y="3383280"/>
            <a:ext cx="274320" cy="320040"/>
          </a:xfrm>
          <a:prstGeom prst="rect">
            <a:avLst/>
          </a:prstGeom>
          <a:noFill/>
          <a:ln/>
        </p:spPr>
        <p:txBody>
          <a:bodyPr wrap="square" lIns="0" tIns="0" rIns="0" bIns="0" rtlCol="0" anchor="ctr"/>
          <a:lstStyle/>
          <a:p>
            <a:pPr marL="0" indent="0" algn="ctr">
              <a:buNone/>
            </a:pPr>
            <a:r>
              <a:rPr lang="en-US" sz="1300" dirty="0">
                <a:solidFill>
                  <a:srgbClr val="1D8348"/>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914400" y="338328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Show which seeds and programs have structural advantages</a:t>
            </a:r>
            <a:endParaRPr lang="en-US" sz="1200" dirty="0"/>
          </a:p>
        </p:txBody>
      </p:sp>
      <p:sp>
        <p:nvSpPr>
          <p:cNvPr id="18" name="Shape 16"/>
          <p:cNvSpPr/>
          <p:nvPr/>
        </p:nvSpPr>
        <p:spPr>
          <a:xfrm>
            <a:off x="4754880" y="1280160"/>
            <a:ext cx="4023360" cy="320040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US"/>
          </a:p>
        </p:txBody>
      </p:sp>
      <p:sp>
        <p:nvSpPr>
          <p:cNvPr id="19" name="Shape 17"/>
          <p:cNvSpPr/>
          <p:nvPr/>
        </p:nvSpPr>
        <p:spPr>
          <a:xfrm>
            <a:off x="4754880" y="1280160"/>
            <a:ext cx="54864" cy="3200400"/>
          </a:xfrm>
          <a:prstGeom prst="rect">
            <a:avLst/>
          </a:prstGeom>
          <a:solidFill>
            <a:srgbClr val="C0392B"/>
          </a:solidFill>
          <a:ln/>
        </p:spPr>
        <p:txBody>
          <a:bodyPr/>
          <a:lstStyle/>
          <a:p>
            <a:endParaRPr lang="en-US"/>
          </a:p>
        </p:txBody>
      </p:sp>
      <p:sp>
        <p:nvSpPr>
          <p:cNvPr id="20" name="Text 18"/>
          <p:cNvSpPr/>
          <p:nvPr/>
        </p:nvSpPr>
        <p:spPr>
          <a:xfrm>
            <a:off x="4983480" y="1371600"/>
            <a:ext cx="3657600" cy="320040"/>
          </a:xfrm>
          <a:prstGeom prst="rect">
            <a:avLst/>
          </a:prstGeom>
          <a:noFill/>
          <a:ln/>
        </p:spPr>
        <p:txBody>
          <a:bodyPr wrap="square" lIns="0" tIns="0" rIns="0" bIns="0" rtlCol="0" anchor="ctr"/>
          <a:lstStyle/>
          <a:p>
            <a:pPr marL="0" indent="0">
              <a:buNone/>
            </a:pPr>
            <a:r>
              <a:rPr lang="en-US" sz="1600" b="1" dirty="0">
                <a:solidFill>
                  <a:srgbClr val="0F1B33"/>
                </a:solidFill>
                <a:latin typeface="Georgia" pitchFamily="34" charset="0"/>
                <a:ea typeface="Georgia" pitchFamily="34" charset="-122"/>
                <a:cs typeface="Georgia" pitchFamily="34" charset="-120"/>
              </a:rPr>
              <a:t>What no model can do</a:t>
            </a:r>
            <a:endParaRPr lang="en-US" sz="1600" dirty="0"/>
          </a:p>
        </p:txBody>
      </p:sp>
      <p:sp>
        <p:nvSpPr>
          <p:cNvPr id="21" name="Text 19"/>
          <p:cNvSpPr/>
          <p:nvPr/>
        </p:nvSpPr>
        <p:spPr>
          <a:xfrm>
            <a:off x="5029200" y="1874520"/>
            <a:ext cx="274320" cy="320040"/>
          </a:xfrm>
          <a:prstGeom prst="rect">
            <a:avLst/>
          </a:prstGeom>
          <a:noFill/>
          <a:ln/>
        </p:spPr>
        <p:txBody>
          <a:bodyPr wrap="square" lIns="0" tIns="0" rIns="0" bIns="0" rtlCol="0" anchor="ctr"/>
          <a:lstStyle/>
          <a:p>
            <a:pPr marL="0" indent="0" algn="ctr">
              <a:buNone/>
            </a:pPr>
            <a:r>
              <a:rPr lang="en-US" sz="1300" dirty="0">
                <a:solidFill>
                  <a:srgbClr val="C0392B"/>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5303520" y="187452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Predict a player getting hot from three in the second half</a:t>
            </a:r>
            <a:endParaRPr lang="en-US" sz="1200" dirty="0"/>
          </a:p>
        </p:txBody>
      </p:sp>
      <p:sp>
        <p:nvSpPr>
          <p:cNvPr id="23" name="Text 21"/>
          <p:cNvSpPr/>
          <p:nvPr/>
        </p:nvSpPr>
        <p:spPr>
          <a:xfrm>
            <a:off x="5029200" y="2377440"/>
            <a:ext cx="274320" cy="320040"/>
          </a:xfrm>
          <a:prstGeom prst="rect">
            <a:avLst/>
          </a:prstGeom>
          <a:noFill/>
          <a:ln/>
        </p:spPr>
        <p:txBody>
          <a:bodyPr wrap="square" lIns="0" tIns="0" rIns="0" bIns="0" rtlCol="0" anchor="ctr"/>
          <a:lstStyle/>
          <a:p>
            <a:pPr marL="0" indent="0" algn="ctr">
              <a:buNone/>
            </a:pPr>
            <a:r>
              <a:rPr lang="en-US" sz="1300" dirty="0">
                <a:solidFill>
                  <a:srgbClr val="C0392B"/>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5303520" y="237744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Account for injuries, suspensions, or team chemistry</a:t>
            </a:r>
            <a:endParaRPr lang="en-US" sz="1200" dirty="0"/>
          </a:p>
        </p:txBody>
      </p:sp>
      <p:sp>
        <p:nvSpPr>
          <p:cNvPr id="25" name="Text 23"/>
          <p:cNvSpPr/>
          <p:nvPr/>
        </p:nvSpPr>
        <p:spPr>
          <a:xfrm>
            <a:off x="5029200" y="2880360"/>
            <a:ext cx="274320" cy="320040"/>
          </a:xfrm>
          <a:prstGeom prst="rect">
            <a:avLst/>
          </a:prstGeom>
          <a:noFill/>
          <a:ln/>
        </p:spPr>
        <p:txBody>
          <a:bodyPr wrap="square" lIns="0" tIns="0" rIns="0" bIns="0" rtlCol="0" anchor="ctr"/>
          <a:lstStyle/>
          <a:p>
            <a:pPr marL="0" indent="0" algn="ctr">
              <a:buNone/>
            </a:pPr>
            <a:r>
              <a:rPr lang="en-US" sz="1300" dirty="0">
                <a:solidFill>
                  <a:srgbClr val="C0392B"/>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5303520" y="288036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Capture the crowd, the pressure, or the moment</a:t>
            </a:r>
            <a:endParaRPr lang="en-US" sz="1200" dirty="0"/>
          </a:p>
        </p:txBody>
      </p:sp>
      <p:sp>
        <p:nvSpPr>
          <p:cNvPr id="27" name="Text 25"/>
          <p:cNvSpPr/>
          <p:nvPr/>
        </p:nvSpPr>
        <p:spPr>
          <a:xfrm>
            <a:off x="5029200" y="3383280"/>
            <a:ext cx="274320" cy="320040"/>
          </a:xfrm>
          <a:prstGeom prst="rect">
            <a:avLst/>
          </a:prstGeom>
          <a:noFill/>
          <a:ln/>
        </p:spPr>
        <p:txBody>
          <a:bodyPr wrap="square" lIns="0" tIns="0" rIns="0" bIns="0" rtlCol="0" anchor="ctr"/>
          <a:lstStyle/>
          <a:p>
            <a:pPr marL="0" indent="0" algn="ctr">
              <a:buNone/>
            </a:pPr>
            <a:r>
              <a:rPr lang="en-US" sz="1300" dirty="0">
                <a:solidFill>
                  <a:srgbClr val="C0392B"/>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5303520" y="3383280"/>
            <a:ext cx="3291840" cy="411480"/>
          </a:xfrm>
          <a:prstGeom prst="rect">
            <a:avLst/>
          </a:prstGeom>
          <a:noFill/>
          <a:ln/>
        </p:spPr>
        <p:txBody>
          <a:bodyPr wrap="square" lIns="0" tIns="0" rIns="0" bIns="0" rtlCol="0" anchor="ctr"/>
          <a:lstStyle/>
          <a:p>
            <a:pPr marL="0" indent="0">
              <a:lnSpc>
                <a:spcPct val="120000"/>
              </a:lnSpc>
              <a:buNone/>
            </a:pPr>
            <a:r>
              <a:rPr lang="en-US" sz="1200" dirty="0">
                <a:solidFill>
                  <a:srgbClr val="444444"/>
                </a:solidFill>
                <a:latin typeface="Calibri" pitchFamily="34" charset="0"/>
                <a:ea typeface="Calibri" pitchFamily="34" charset="-122"/>
                <a:cs typeface="Calibri" pitchFamily="34" charset="-120"/>
              </a:rPr>
              <a:t>Guarantee anything — Florida was our #4 pick and already lost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F1B3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782F"/>
          </a:solidFill>
          <a:ln/>
        </p:spPr>
        <p:txBody>
          <a:bodyPr/>
          <a:lstStyle/>
          <a:p>
            <a:endParaRPr lang="en-US"/>
          </a:p>
        </p:txBody>
      </p:sp>
      <p:sp>
        <p:nvSpPr>
          <p:cNvPr id="3" name="Shape 1"/>
          <p:cNvSpPr/>
          <p:nvPr/>
        </p:nvSpPr>
        <p:spPr>
          <a:xfrm>
            <a:off x="0" y="5088636"/>
            <a:ext cx="9144000" cy="54864"/>
          </a:xfrm>
          <a:prstGeom prst="rect">
            <a:avLst/>
          </a:prstGeom>
          <a:solidFill>
            <a:srgbClr val="D4782F"/>
          </a:solidFill>
          <a:ln/>
        </p:spPr>
        <p:txBody>
          <a:bodyPr/>
          <a:lstStyle/>
          <a:p>
            <a:endParaRPr lang="en-US"/>
          </a:p>
        </p:txBody>
      </p:sp>
      <p:sp>
        <p:nvSpPr>
          <p:cNvPr id="4" name="Text 2"/>
          <p:cNvSpPr/>
          <p:nvPr/>
        </p:nvSpPr>
        <p:spPr>
          <a:xfrm>
            <a:off x="914400" y="731520"/>
            <a:ext cx="7315200" cy="1280160"/>
          </a:xfrm>
          <a:prstGeom prst="rect">
            <a:avLst/>
          </a:prstGeom>
          <a:noFill/>
          <a:ln/>
        </p:spPr>
        <p:txBody>
          <a:bodyPr wrap="square" rtlCol="0" anchor="ctr"/>
          <a:lstStyle/>
          <a:p>
            <a:pPr marL="0" indent="0" algn="ctr">
              <a:lnSpc>
                <a:spcPct val="140000"/>
              </a:lnSpc>
              <a:buNone/>
            </a:pPr>
            <a:r>
              <a:rPr lang="en-US" sz="2400" b="1" dirty="0">
                <a:solidFill>
                  <a:srgbClr val="FFFFFF"/>
                </a:solidFill>
                <a:latin typeface="Georgia" pitchFamily="34" charset="0"/>
                <a:ea typeface="Georgia" pitchFamily="34" charset="-122"/>
                <a:cs typeface="Georgia" pitchFamily="34" charset="-120"/>
              </a:rPr>
              <a:t>Sports will forever be unpredictable</a:t>
            </a:r>
            <a:endParaRPr lang="en-US" sz="2400" dirty="0"/>
          </a:p>
          <a:p>
            <a:pPr marL="0" indent="0" algn="ctr">
              <a:lnSpc>
                <a:spcPct val="140000"/>
              </a:lnSpc>
              <a:buNone/>
            </a:pPr>
            <a:r>
              <a:rPr lang="en-US" sz="2400" b="1" dirty="0">
                <a:solidFill>
                  <a:srgbClr val="FFFFFF"/>
                </a:solidFill>
                <a:latin typeface="Georgia" pitchFamily="34" charset="0"/>
                <a:ea typeface="Georgia" pitchFamily="34" charset="-122"/>
                <a:cs typeface="Georgia" pitchFamily="34" charset="-120"/>
              </a:rPr>
              <a:t>because there are too many variables.</a:t>
            </a:r>
            <a:endParaRPr lang="en-US" sz="2400" dirty="0"/>
          </a:p>
        </p:txBody>
      </p:sp>
      <p:sp>
        <p:nvSpPr>
          <p:cNvPr id="5" name="Text 3"/>
          <p:cNvSpPr/>
          <p:nvPr/>
        </p:nvSpPr>
        <p:spPr>
          <a:xfrm>
            <a:off x="914400" y="2103120"/>
            <a:ext cx="7315200" cy="457200"/>
          </a:xfrm>
          <a:prstGeom prst="rect">
            <a:avLst/>
          </a:prstGeom>
          <a:noFill/>
          <a:ln/>
        </p:spPr>
        <p:txBody>
          <a:bodyPr wrap="square" rtlCol="0" anchor="ctr"/>
          <a:lstStyle/>
          <a:p>
            <a:pPr marL="0" indent="0" algn="ctr">
              <a:buNone/>
            </a:pPr>
            <a:r>
              <a:rPr lang="en-US" sz="1800" i="1" dirty="0">
                <a:solidFill>
                  <a:srgbClr val="F5A623"/>
                </a:solidFill>
                <a:latin typeface="Calibri" pitchFamily="34" charset="0"/>
                <a:ea typeface="Calibri" pitchFamily="34" charset="-122"/>
                <a:cs typeface="Calibri" pitchFamily="34" charset="-120"/>
              </a:rPr>
              <a:t>That’s what makes March Madness worth watching.</a:t>
            </a:r>
            <a:endParaRPr lang="en-US" sz="1800" dirty="0"/>
          </a:p>
        </p:txBody>
      </p:sp>
      <p:sp>
        <p:nvSpPr>
          <p:cNvPr id="6" name="Shape 4"/>
          <p:cNvSpPr/>
          <p:nvPr/>
        </p:nvSpPr>
        <p:spPr>
          <a:xfrm>
            <a:off x="2743200" y="2743200"/>
            <a:ext cx="3657600" cy="0"/>
          </a:xfrm>
          <a:prstGeom prst="line">
            <a:avLst/>
          </a:prstGeom>
          <a:noFill/>
          <a:ln w="6350">
            <a:solidFill>
              <a:srgbClr val="3A5070"/>
            </a:solidFill>
            <a:prstDash val="solid"/>
          </a:ln>
        </p:spPr>
        <p:txBody>
          <a:bodyPr/>
          <a:lstStyle/>
          <a:p>
            <a:endParaRPr lang="en-US"/>
          </a:p>
        </p:txBody>
      </p:sp>
      <p:sp>
        <p:nvSpPr>
          <p:cNvPr id="7" name="Text 5"/>
          <p:cNvSpPr/>
          <p:nvPr/>
        </p:nvSpPr>
        <p:spPr>
          <a:xfrm>
            <a:off x="914400" y="2926080"/>
            <a:ext cx="7315200" cy="731520"/>
          </a:xfrm>
          <a:prstGeom prst="rect">
            <a:avLst/>
          </a:prstGeom>
          <a:noFill/>
          <a:ln/>
        </p:spPr>
        <p:txBody>
          <a:bodyPr wrap="square" rtlCol="0" anchor="ctr"/>
          <a:lstStyle/>
          <a:p>
            <a:pPr marL="0" indent="0" algn="ctr">
              <a:lnSpc>
                <a:spcPct val="140000"/>
              </a:lnSpc>
              <a:buNone/>
            </a:pPr>
            <a:r>
              <a:rPr lang="en-US" sz="1400" dirty="0">
                <a:solidFill>
                  <a:srgbClr val="8899AA"/>
                </a:solidFill>
                <a:latin typeface="Calibri" pitchFamily="34" charset="0"/>
                <a:ea typeface="Calibri" pitchFamily="34" charset="-122"/>
                <a:cs typeface="Calibri" pitchFamily="34" charset="-120"/>
              </a:rPr>
              <a:t>Our models are our best guess at predicting things</a:t>
            </a:r>
            <a:endParaRPr lang="en-US" sz="1400" dirty="0"/>
          </a:p>
          <a:p>
            <a:pPr marL="0" indent="0" algn="ctr">
              <a:lnSpc>
                <a:spcPct val="140000"/>
              </a:lnSpc>
              <a:buNone/>
            </a:pPr>
            <a:r>
              <a:rPr lang="en-US" sz="1400" dirty="0">
                <a:solidFill>
                  <a:srgbClr val="8899AA"/>
                </a:solidFill>
                <a:latin typeface="Calibri" pitchFamily="34" charset="0"/>
                <a:ea typeface="Calibri" pitchFamily="34" charset="-122"/>
                <a:cs typeface="Calibri" pitchFamily="34" charset="-120"/>
              </a:rPr>
              <a:t>based on stats we think are good at describing the game.</a:t>
            </a:r>
            <a:endParaRPr lang="en-US" sz="1400" dirty="0"/>
          </a:p>
        </p:txBody>
      </p:sp>
      <p:sp>
        <p:nvSpPr>
          <p:cNvPr id="8" name="Text 6"/>
          <p:cNvSpPr/>
          <p:nvPr/>
        </p:nvSpPr>
        <p:spPr>
          <a:xfrm>
            <a:off x="914400" y="4114800"/>
            <a:ext cx="7315200" cy="457200"/>
          </a:xfrm>
          <a:prstGeom prst="rect">
            <a:avLst/>
          </a:prstGeom>
          <a:noFill/>
          <a:ln/>
        </p:spPr>
        <p:txBody>
          <a:bodyPr wrap="square" rtlCol="0" anchor="ctr"/>
          <a:lstStyle/>
          <a:p>
            <a:pPr marL="0" indent="0" algn="ctr">
              <a:buNone/>
            </a:pPr>
            <a:r>
              <a:rPr lang="en-US" sz="2400" b="1" kern="0" spc="400" dirty="0">
                <a:solidFill>
                  <a:srgbClr val="FFFFFF"/>
                </a:solidFill>
                <a:latin typeface="Georgia" pitchFamily="34" charset="0"/>
                <a:ea typeface="Georgia" pitchFamily="34" charset="-122"/>
                <a:cs typeface="Georg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2837</TotalTime>
  <Words>1782</Words>
  <Application>Microsoft Macintosh PowerPoint</Application>
  <PresentationFormat>On-screen Show (16:9)</PresentationFormat>
  <Paragraphs>203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Georgia</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March Madness Datathon 2026</dc:title>
  <dc:subject>PptxGenJS Presentation</dc:subject>
  <dc:creator>March Madness Datathon Team</dc:creator>
  <cp:lastModifiedBy>Hardik Shukla</cp:lastModifiedBy>
  <cp:revision>5</cp:revision>
  <dcterms:created xsi:type="dcterms:W3CDTF">2026-03-24T02:45:06Z</dcterms:created>
  <dcterms:modified xsi:type="dcterms:W3CDTF">2026-03-27T23:20:28Z</dcterms:modified>
</cp:coreProperties>
</file>